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7"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158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0:15 · Habla: Ignacio. Buenos días. Somos Ignacio Mella (Software Engineer) y Manuel Bustamante (Data Scientist). Presentamos NexuStock: un sistema web predictivo de gestión de inventario para carnicerías independientes. En 7 minutos vamos a mostrar el problema, el producto, cómo está construido, cómo se vincula con nuestro perfil de egreso y nuestro plan de trabajo; después veremos un video de 3 minutos con toda la funcionalidad.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0:45 · Habla: Manuel. Una carnicería pequeña debe decidir cada semana cuánto y cuándo comprar. Si compra de menos, se queda sin cortes de alta demanda justo en fines de semana, festivos, quincenas y fin de mes: quiebre de stock. Si compra de más, el producto perecible se pierde: sobreinventario y merma. Y sin un registro de ventas y compras en tiempo real, ni siquiera se sabe cuánto stock hay de verdad. Estas pymes no tienen área de TI, así que hoy deciden con estimaciones empíricas o promedios simples. Ese es el problema que resuelve NexuStock (objetivos OB-01, OB-02 y OB-03 del Documento 01).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0:50 · Habla: Ignacio. NexuStock hace tres cosas. Uno, registrar: cada venta y cada compra se guardan en transacciones atómicas, así el stock siempre está al día. Dos, proyectar: calcula la demanda de cada producto para la semana o el mes, y el error del modelo se mide en kilos con la métrica MAE. Tres, alertar: un semáforo con tres niveles, quiebre en rojo, bajo en amarillo y óptimo en verde, siempre acompañado de texto. Para los productos en riesgo entrega la cantidad sugerida y la fecha límite para pedir, considerando el lead time del proveedor. Ejemplo del Documento 01: demanda proyectada de 140 kg, margen de seguridad 10 % y stock de 40 kg: se sugiere pedir 114 kg. El dueño ve todo en un dashboard simple, pensado para personas sin conocimientos técnicos.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0:50 · Habla: Ignacio. El navegador usa la aplicación Next.js, que se comunica por HTTPS con una API REST en Node.js y Express empaquetada en Docker. La API concentra la autenticación, las reglas de negocio y el motor de alertas, y es el único punto de acceso a los datos. Los datos viven en PostgreSQL gestionado: primero en Supabase, y después se migra al proveedor cloud definitivo cambiando solo variables de entorno, porque el despliegue es agnóstico del proveedor. El motor predictivo en Python se invoca desde la API como proceso hijo y tiene un máximo de 2,0 segundos: si no responde, se usa el respaldo. En seguridad: contraseñas con bcrypt, sesión con token JWT en cookie httpOnly y control de acceso por tres roles (administrador, operador y TI). El diseño completo, con 13 casos de uso y un modelo E-R de 10 tablas, está en el Documento 02.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0:55 · Habla: Manuel. Mi parte es el motor predictivo. Usamos datos reales: el historial de 2022 y 2023 para entrenar y todo 2024 para probar. Descartamos 2020 y 2021 por el efecto de la pandemia. Los datos se depuran, se agregan por producto y semana y se enriquecen con variables de estacionalidad (Fiestas Patrias, Semana Santa, feriados largos, quincena y fin de mes) y con las ventas de las semanas anteriores. La métrica es el MAE, el error medio en kilos, y el modelo tiene que superar a un promedio simple, tanto en el conjunto de prueba 2024 como en las ventanas festivas. Si el motor tarda más de 2 segundos, no hay modelo activo o el producto es nuevo y no tiene historial, el sistema usa un respaldo: promedio histórico del producto o de su categoría. Así la operación nunca se detiene. [Manuel: confirma el estado real del entrenamiento antes de exponer; si ya tienes un MAE medido, agrégalo aquí con su cifra real.]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0:50 · Habla: Manuel y Ignacio, alternando fila por fila. Esta lámina conecta el proyecto con el perfil de egreso de Ingeniería en Informática de Duoc UC. Ingeniería de requisitos: el Documento 01 sigue IEEE 830 y define 13 requisitos funcionales y 25 no funcionales. Bases de datos relacionales: modelo E-R versión 4 con 10 tablas y reglas de integridad en PostgreSQL. Software de calidad y ciclo de vida: diseño UML, pruebas automatizadas y trabajo en ramas por integrante con Pull Request. Calidad, seguridad y sostenibilidad: contraseñas con bcrypt, sesión JWT, roles y HTTPS; y menos merma de producto perecible. Gestión de proyectos y despliegue: plan en cascada con documentos versionados, contenedores Docker y una evaluación económica con VAN, TIR y ROI. Nota para ustedes: las competencias están tomadas del perfil de egreso publicado por Duoc para la carrera; contrástenlas con el perfil de su plan de estudio antes de exponer.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1:00 (30 s cada uno) · Habla: Ignacio y luego Manuel. Esta lámina vale para la parte individual de la evaluación (intereses profesionales, lenguaje técnico y trabajo en equipo): cada uno la dice con sus propias palabras. Los intereses y vínculos vienen de las láminas individuales de la presentación de Fase 1; actualícenlos si algo cambió. Estructura sugerida para cada uno (30 segundos): 1) mi rol y qué construí, 2) mi interés profesional, 3) qué técnica concreta del proyecto me acerca a ese interés, 4) cómo nos coordinamos en el equipo (ramas Features/Ignacio y Features/Manuel, Pull Request aprobado por ambos). Ignacio: aporte real documentado: arquitectura, base de datos, backend, frontend y despliegue. Manuel: aporte real documentado: datos, modelo de predicción y métrica MAE.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0:55 · Habla: Ignacio. Trabajamos en modelo en cascada, con un ciclo efectivo de 10 semanas. Completado: la definición del proyecto en la Fase 1 y los Documentos 01 (requerimientos) y 02 (diseño UML), ambos en su revisión 02 del 17 de octubre de 2026, con control de cambios. En curso: la implementación, que tiene backend y frontend para los 13 requisitos funcionales con pruebas automatizadas y falta desplegarlos en la nube; y el motor predictivo, con entrenamiento 2022 y 2023 y prueba 2024. Pendiente: el despliegue en Supabase y migración al proveedor definitivo, la evaluación económica con VAN, TIR, ROI, las pruebas de usabilidad y los manuales técnico y de usuario. Importante para ustedes: los estados (Completado, En curso, Pendiente) son los que reflejan los documentos y el código, pero confirmen cada uno con la realidad del equipo antes de exponer. Si tienen fechas por semana en su carta Gantt o Kanban, agréguenlas a esta lámina.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0:10 de introducción (el video aparte dura máximo 3:00) · Habla: Manuel. Introducción: «A continuación mostramos en un video de 3 minutos toda la funcionalidad del sistema con datos de demostración.» GUION DEL VIDEO (3:00 máx.) 0:00 – 0:20 Acceso y roles: iniciar sesión como administrador, mostrar que existen los roles administrador, operador y TI (mostrar muy rápido la creación de cuenta y la recuperación de contraseña). 0:20 – 0:55 Dashboard: tarjetas de resumen, gráfico de demanda real vs proyectada, semáforo (Quiebre, Bajo, Óptimo) y tabla de sugerencias de compra con cantidad y fecha límite. 0:55 – 1:40 Registrar una venta (el stock baja; mostrar el aviso al intentar vender más que el stock) y recibir una compra (el stock sube). 1:40 – 2:20 Alertas: atender o descartar una alerta; Predicción: horizonte semana o mes, calendario de eventos y precisión del modelo (MAE en kg). 2:20 – 2:40 Catálogo: productos, categorías y proveedores con su lead time. 2:40 – 3:00 Historial con exportación a CSV, equipo y permisos por rol, y cambio de tema oscuro / crema. Consejo: graben con datos de demostración claramente identificados; no presenten datos simulados como reales.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31263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0:10 de introducción (el video aparte dura máximo 3:00) · Habla: Manuel. Introducción: «A continuación mostramos en un video de 3 minutos toda la funcionalidad del sistema con datos de demostración.» GUION DEL VIDEO (3:00 máx.) 0:00 – 0:20 Acceso y roles: iniciar sesión como administrador, mostrar que existen los roles administrador, operador y TI (mostrar muy rápido la creación de cuenta y la recuperación de contraseña). 0:20 – 0:55 Dashboard: tarjetas de resumen, gráfico de demanda real vs proyectada, semáforo (Quiebre, Bajo, Óptimo) y tabla de sugerencias de compra con cantidad y fecha límite. 0:55 – 1:40 Registrar una venta (el stock baja; mostrar el aviso al intentar vender más que el stock) y recibir una compra (el stock sube). 1:40 – 2:20 Alertas: atender o descartar una alerta; Predicción: horizonte semana o mes, calendario de eventos y precisión del modelo (MAE en kg). 2:20 – 2:40 Catálogo: productos, categorías y proveedores con su lead time. 2:40 – 3:00 Historial con exportación a CSV, equipo y permisos por rol, y cambio de tema oscuro / crema. Consejo: graben con datos de demostración claramente identificados; no presenten datos simulados como reales.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65987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0:30 · Habla: Ignacio y Manuel. Cierre: «Los próximos pasos son entrenar y evaluar el modelo con MAE, desplegar en la nube y evaluar la factibilidad con VAN, TIR y ROI, y completar las pruebas de usabilidad y los manuales. Gracias; quedamos atentos a sus preguntas.» Preparación para preguntas (lenguaje técnico, valen 30 % individual): - ¿Por qué cascada? Requisitos estables y documentos versionados con control de cambios. - ¿Qué pasa si el modelo falla? Respaldo por promedio histórico o categoría (CU-11) en menos de 2,0 s. - ¿Por qué Supabase y luego otro proveedor? Se usa solo como PostgreSQL; la migración cambia DATABASE_URL. - ¿Cómo se mide el modelo? MAE en kg, con entrenamiento 2022–2023 y prueba 2024, y análisis en fechas festivas. - ¿Cómo evitan quiebres? Semáforo con cantidad sugerida y fecha límite de pedido considerando el lead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2F716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F4FAF8"/>
                </a:solidFill>
                <a:latin typeface="Jost" pitchFamily="34" charset="0"/>
                <a:ea typeface="Jost" pitchFamily="34" charset="-122"/>
                <a:cs typeface="Jost"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676400"/>
            <a:ext cx="10566400" cy="4368800"/>
          </a:xfrm>
          <a:prstGeom prst="rect">
            <a:avLst/>
          </a:prstGeom>
          <a:noFill/>
          <a:ln/>
        </p:spPr>
        <p:txBody>
          <a:bodyPr wrap="square" lIns="0" tIns="0" rIns="0" bIns="0" rtlCol="0" anchor="t"/>
          <a:lstStyle>
            <a:lvl1pPr marL="0" indent="0" algn="l">
              <a:lnSpc>
                <a:spcPct val="140000"/>
              </a:lnSpc>
              <a:buNone/>
              <a:defRPr lang="en-US" sz="1600" dirty="0">
                <a:solidFill>
                  <a:srgbClr val="F4FAF8"/>
                </a:solidFill>
                <a:latin typeface="Jost" pitchFamily="34" charset="0"/>
                <a:ea typeface="Jost" pitchFamily="34" charset="-122"/>
                <a:cs typeface="Jost"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F4FAF8"/>
                </a:solidFill>
                <a:latin typeface="Jost" pitchFamily="34" charset="0"/>
                <a:ea typeface="Jost" pitchFamily="34" charset="-122"/>
                <a:cs typeface="Jost"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676400"/>
            <a:ext cx="10566400" cy="4368800"/>
          </a:xfrm>
          <a:prstGeom prst="rect">
            <a:avLst/>
          </a:prstGeom>
          <a:noFill/>
          <a:ln/>
        </p:spPr>
        <p:txBody>
          <a:bodyPr wrap="square" lIns="0" tIns="0" rIns="0" bIns="0" rtlCol="0" anchor="t"/>
          <a:lstStyle>
            <a:lvl1pPr marL="0" indent="0" algn="l">
              <a:lnSpc>
                <a:spcPct val="140000"/>
              </a:lnSpc>
              <a:buNone/>
              <a:defRPr lang="en-US" sz="1600" dirty="0">
                <a:solidFill>
                  <a:srgbClr val="F4FAF8"/>
                </a:solidFill>
                <a:latin typeface="Jost" pitchFamily="34" charset="0"/>
                <a:ea typeface="Jost" pitchFamily="34" charset="-122"/>
                <a:cs typeface="Jost"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F4FAF8"/>
                </a:solidFill>
                <a:latin typeface="Jost" pitchFamily="34" charset="0"/>
                <a:ea typeface="Jost" pitchFamily="34" charset="-122"/>
                <a:cs typeface="Jost"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676400"/>
            <a:ext cx="10566400" cy="4368800"/>
          </a:xfrm>
          <a:prstGeom prst="rect">
            <a:avLst/>
          </a:prstGeom>
          <a:noFill/>
          <a:ln/>
        </p:spPr>
        <p:txBody>
          <a:bodyPr wrap="square" lIns="0" tIns="0" rIns="0" bIns="0" rtlCol="0" anchor="t"/>
          <a:lstStyle>
            <a:lvl1pPr marL="0" indent="0" algn="l">
              <a:lnSpc>
                <a:spcPct val="140000"/>
              </a:lnSpc>
              <a:buNone/>
              <a:defRPr lang="en-US" sz="1600" dirty="0">
                <a:solidFill>
                  <a:srgbClr val="F4FAF8"/>
                </a:solidFill>
                <a:latin typeface="Jost" pitchFamily="34" charset="0"/>
                <a:ea typeface="Jost" pitchFamily="34" charset="-122"/>
                <a:cs typeface="Jost"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F716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F4FAF8"/>
                </a:solidFill>
                <a:latin typeface="Jost" pitchFamily="34" charset="0"/>
                <a:ea typeface="Jost" pitchFamily="34" charset="-122"/>
                <a:cs typeface="Jost"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676400"/>
            <a:ext cx="10566400" cy="4368800"/>
          </a:xfrm>
          <a:prstGeom prst="rect">
            <a:avLst/>
          </a:prstGeom>
          <a:noFill/>
          <a:ln/>
        </p:spPr>
        <p:txBody>
          <a:bodyPr wrap="square" lIns="0" tIns="0" rIns="0" bIns="0" rtlCol="0" anchor="t"/>
          <a:lstStyle>
            <a:lvl1pPr marL="0" indent="0" algn="l">
              <a:lnSpc>
                <a:spcPct val="140000"/>
              </a:lnSpc>
              <a:buNone/>
              <a:defRPr lang="en-US" sz="1600" dirty="0">
                <a:solidFill>
                  <a:srgbClr val="F4FAF8"/>
                </a:solidFill>
                <a:latin typeface="Jost" pitchFamily="34" charset="0"/>
                <a:ea typeface="Jost" pitchFamily="34" charset="-122"/>
                <a:cs typeface="Jost"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llipse"/>
          <p:cNvPicPr>
            <a:picLocks noChangeAspect="1"/>
          </p:cNvPicPr>
          <p:nvPr/>
        </p:nvPicPr>
        <p:blipFill>
          <a:blip r:embed="rId3"/>
          <a:srcRect/>
          <a:stretch/>
        </p:blipFill>
        <p:spPr>
          <a:xfrm>
            <a:off x="7239000" y="1206500"/>
            <a:ext cx="4064000" cy="4064000"/>
          </a:xfrm>
          <a:prstGeom prst="rect">
            <a:avLst/>
          </a:prstGeom>
        </p:spPr>
      </p:pic>
      <p:sp>
        <p:nvSpPr>
          <p:cNvPr id="3" name="Shape 0"/>
          <p:cNvSpPr/>
          <p:nvPr/>
        </p:nvSpPr>
        <p:spPr>
          <a:xfrm>
            <a:off x="7937500" y="1905000"/>
            <a:ext cx="2667000" cy="2667000"/>
          </a:xfrm>
          <a:prstGeom prst="roundRect">
            <a:avLst>
              <a:gd name="adj" fmla="val 50000"/>
            </a:avLst>
          </a:prstGeom>
          <a:solidFill>
            <a:srgbClr val="F4F1E8"/>
          </a:solidFill>
          <a:ln/>
        </p:spPr>
        <p:txBody>
          <a:bodyPr/>
          <a:lstStyle/>
          <a:p>
            <a:endParaRPr lang="es-MX"/>
          </a:p>
        </p:txBody>
      </p:sp>
      <p:pic>
        <p:nvPicPr>
          <p:cNvPr id="4" name="Image 1" descr="Logo abreviado de NexuStock: las letras NS dentro de un círculo"/>
          <p:cNvPicPr>
            <a:picLocks noChangeAspect="1"/>
          </p:cNvPicPr>
          <p:nvPr/>
        </p:nvPicPr>
        <p:blipFill>
          <a:blip r:embed="rId4"/>
          <a:srcRect/>
          <a:stretch/>
        </p:blipFill>
        <p:spPr>
          <a:xfrm>
            <a:off x="7937500" y="1905000"/>
            <a:ext cx="2667000" cy="2667000"/>
          </a:xfrm>
          <a:prstGeom prst="ellipse">
            <a:avLst/>
          </a:prstGeom>
        </p:spPr>
      </p:pic>
      <p:sp>
        <p:nvSpPr>
          <p:cNvPr id="5" name="Text 1"/>
          <p:cNvSpPr/>
          <p:nvPr/>
        </p:nvSpPr>
        <p:spPr>
          <a:xfrm>
            <a:off x="812800" y="1373584"/>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300" dirty="0">
                <a:solidFill>
                  <a:srgbClr val="86D5CB"/>
                </a:solidFill>
                <a:latin typeface="Jost" pitchFamily="34" charset="0"/>
                <a:ea typeface="Jost" pitchFamily="34" charset="-122"/>
                <a:cs typeface="Jost" pitchFamily="34" charset="-120"/>
              </a:rPr>
              <a:t>CAPSTONE · APT122 · SECCIÓN 001D</a:t>
            </a:r>
            <a:endParaRPr lang="en-US" sz="1500" dirty="0"/>
          </a:p>
        </p:txBody>
      </p:sp>
      <p:sp>
        <p:nvSpPr>
          <p:cNvPr id="6" name="Text 2"/>
          <p:cNvSpPr>
            <a:spLocks noGrp="1"/>
          </p:cNvSpPr>
          <p:nvPr>
            <p:ph type="title"/>
          </p:nvPr>
        </p:nvSpPr>
        <p:spPr>
          <a:xfrm>
            <a:off x="812800" y="1868884"/>
            <a:ext cx="10883392" cy="1358900"/>
          </a:xfrm>
          <a:prstGeom prst="rect">
            <a:avLst/>
          </a:prstGeom>
          <a:noFill/>
          <a:ln/>
        </p:spPr>
        <p:txBody>
          <a:bodyPr wrap="square" lIns="0" tIns="0" rIns="0" bIns="0" rtlCol="0" anchor="t">
            <a:normAutofit/>
          </a:bodyPr>
          <a:lstStyle/>
          <a:p>
            <a:pPr marL="0" indent="0" algn="l">
              <a:lnSpc>
                <a:spcPts val="10500"/>
              </a:lnSpc>
              <a:buNone/>
            </a:pPr>
            <a:r>
              <a:rPr lang="en-US" sz="10000" b="0" i="0" dirty="0">
                <a:solidFill>
                  <a:srgbClr val="F4FAF8"/>
                </a:solidFill>
                <a:latin typeface="Jost" pitchFamily="34" charset="0"/>
                <a:ea typeface="Jost" pitchFamily="34" charset="-122"/>
                <a:cs typeface="Jost" pitchFamily="34" charset="-120"/>
              </a:rPr>
              <a:t>NexuStock</a:t>
            </a:r>
            <a:endParaRPr lang="en-US" sz="10000" dirty="0"/>
          </a:p>
        </p:txBody>
      </p:sp>
      <p:sp>
        <p:nvSpPr>
          <p:cNvPr id="7" name="Text 3"/>
          <p:cNvSpPr/>
          <p:nvPr/>
        </p:nvSpPr>
        <p:spPr>
          <a:xfrm>
            <a:off x="812800" y="3430984"/>
            <a:ext cx="6527419" cy="787400"/>
          </a:xfrm>
          <a:prstGeom prst="rect">
            <a:avLst/>
          </a:prstGeom>
          <a:noFill/>
          <a:ln/>
        </p:spPr>
        <p:txBody>
          <a:bodyPr wrap="square" lIns="0" tIns="0" rIns="0" bIns="0" rtlCol="0" anchor="t">
            <a:normAutofit/>
          </a:bodyPr>
          <a:lstStyle/>
          <a:p>
            <a:pPr marL="0" indent="0" algn="l">
              <a:lnSpc>
                <a:spcPts val="3000"/>
              </a:lnSpc>
              <a:buNone/>
            </a:pPr>
            <a:r>
              <a:rPr lang="en-US" sz="2400" dirty="0">
                <a:solidFill>
                  <a:srgbClr val="BCD6D2"/>
                </a:solidFill>
                <a:latin typeface="Jost" pitchFamily="34" charset="0"/>
                <a:ea typeface="Jost" pitchFamily="34" charset="-122"/>
                <a:cs typeface="Jost" pitchFamily="34" charset="-120"/>
              </a:rPr>
              <a:t>Sistema web predictivo de gestión de inventario para carnicerías independientes</a:t>
            </a:r>
            <a:endParaRPr lang="en-US" sz="2400" dirty="0"/>
          </a:p>
        </p:txBody>
      </p:sp>
      <p:pic>
        <p:nvPicPr>
          <p:cNvPr id="8" name="Image 2" descr="line"/>
          <p:cNvPicPr>
            <a:picLocks noChangeAspect="1"/>
          </p:cNvPicPr>
          <p:nvPr/>
        </p:nvPicPr>
        <p:blipFill>
          <a:blip r:embed="rId5"/>
          <a:srcRect/>
          <a:stretch/>
        </p:blipFill>
        <p:spPr>
          <a:xfrm>
            <a:off x="812800" y="4421584"/>
            <a:ext cx="1016000" cy="19050"/>
          </a:xfrm>
          <a:prstGeom prst="rect">
            <a:avLst/>
          </a:prstGeom>
        </p:spPr>
      </p:pic>
      <p:sp>
        <p:nvSpPr>
          <p:cNvPr id="9" name="Text 4"/>
          <p:cNvSpPr/>
          <p:nvPr/>
        </p:nvSpPr>
        <p:spPr>
          <a:xfrm>
            <a:off x="812800" y="4669234"/>
            <a:ext cx="1708190" cy="36314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AF8"/>
                </a:solidFill>
                <a:latin typeface="Jost" pitchFamily="34" charset="0"/>
                <a:ea typeface="Jost" pitchFamily="34" charset="-122"/>
                <a:cs typeface="Jost" pitchFamily="34" charset="-120"/>
              </a:rPr>
              <a:t>Ignacio Mella</a:t>
            </a:r>
            <a:endParaRPr lang="en-US" sz="1900" dirty="0"/>
          </a:p>
        </p:txBody>
      </p:sp>
      <p:sp>
        <p:nvSpPr>
          <p:cNvPr id="10" name="Text 5"/>
          <p:cNvSpPr/>
          <p:nvPr/>
        </p:nvSpPr>
        <p:spPr>
          <a:xfrm>
            <a:off x="812800" y="5032375"/>
            <a:ext cx="147429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6D5CB"/>
                </a:solidFill>
                <a:latin typeface="Jost" pitchFamily="34" charset="0"/>
                <a:ea typeface="Jost" pitchFamily="34" charset="-122"/>
                <a:cs typeface="Jost" pitchFamily="34" charset="-120"/>
              </a:rPr>
              <a:t>Software Engineer</a:t>
            </a:r>
            <a:endParaRPr lang="en-US" sz="1400" dirty="0"/>
          </a:p>
        </p:txBody>
      </p:sp>
      <p:sp>
        <p:nvSpPr>
          <p:cNvPr id="11" name="Text 6"/>
          <p:cNvSpPr/>
          <p:nvPr/>
        </p:nvSpPr>
        <p:spPr>
          <a:xfrm>
            <a:off x="2845891" y="4669234"/>
            <a:ext cx="2466499" cy="36314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AF8"/>
                </a:solidFill>
                <a:latin typeface="Jost" pitchFamily="34" charset="0"/>
                <a:ea typeface="Jost" pitchFamily="34" charset="-122"/>
                <a:cs typeface="Jost" pitchFamily="34" charset="-120"/>
              </a:rPr>
              <a:t>Manuel Bustamante</a:t>
            </a:r>
            <a:endParaRPr lang="en-US" sz="1900" dirty="0"/>
          </a:p>
        </p:txBody>
      </p:sp>
      <p:sp>
        <p:nvSpPr>
          <p:cNvPr id="12" name="Text 7"/>
          <p:cNvSpPr/>
          <p:nvPr/>
        </p:nvSpPr>
        <p:spPr>
          <a:xfrm>
            <a:off x="2845891" y="5032375"/>
            <a:ext cx="211707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6D5CB"/>
                </a:solidFill>
                <a:latin typeface="Jost" pitchFamily="34" charset="0"/>
                <a:ea typeface="Jost" pitchFamily="34" charset="-122"/>
                <a:cs typeface="Jost" pitchFamily="34" charset="-120"/>
              </a:rPr>
              <a:t>Data Scientist</a:t>
            </a:r>
            <a:endParaRPr lang="en-US" sz="1400" dirty="0"/>
          </a:p>
        </p:txBody>
      </p:sp>
      <p:sp>
        <p:nvSpPr>
          <p:cNvPr id="13" name="Text 8"/>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Duoc UC · Escuela de Informática y Telecomunicaciones · Sede Alameda · Octubre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4FAF8"/>
                </a:solidFill>
                <a:latin typeface="Jost" pitchFamily="34" charset="0"/>
                <a:ea typeface="Jost" pitchFamily="34" charset="-122"/>
                <a:cs typeface="Jost" pitchFamily="34" charset="-120"/>
              </a:rPr>
              <a:t>El problema</a:t>
            </a:r>
            <a:endParaRPr lang="en-US" sz="4000" dirty="0"/>
          </a:p>
        </p:txBody>
      </p:sp>
      <p:sp>
        <p:nvSpPr>
          <p:cNvPr id="3" name="Text 1"/>
          <p:cNvSpPr/>
          <p:nvPr/>
        </p:nvSpPr>
        <p:spPr>
          <a:xfrm>
            <a:off x="812800" y="142240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86D5CB"/>
                </a:solidFill>
                <a:latin typeface="Jost" pitchFamily="34" charset="0"/>
                <a:ea typeface="Jost" pitchFamily="34" charset="-122"/>
                <a:cs typeface="Jost" pitchFamily="34" charset="-120"/>
              </a:rPr>
              <a:t>Decidir cuánto comprar sin información</a:t>
            </a:r>
            <a:endParaRPr lang="en-US" sz="2200" dirty="0"/>
          </a:p>
        </p:txBody>
      </p:sp>
      <p:sp>
        <p:nvSpPr>
          <p:cNvPr id="4" name="Shape 2"/>
          <p:cNvSpPr/>
          <p:nvPr/>
        </p:nvSpPr>
        <p:spPr>
          <a:xfrm>
            <a:off x="815975" y="1989435"/>
            <a:ext cx="3380284" cy="1979612"/>
          </a:xfrm>
          <a:prstGeom prst="roundRect">
            <a:avLst>
              <a:gd name="adj" fmla="val 7538"/>
            </a:avLst>
          </a:prstGeom>
          <a:solidFill>
            <a:srgbClr val="FFFFFF">
              <a:alpha val="6000"/>
            </a:srgbClr>
          </a:solidFill>
          <a:ln w="6350">
            <a:solidFill>
              <a:srgbClr val="86D5CB">
                <a:alpha val="28000"/>
              </a:srgbClr>
            </a:solidFill>
            <a:prstDash val="solid"/>
          </a:ln>
        </p:spPr>
        <p:txBody>
          <a:bodyPr/>
          <a:lstStyle/>
          <a:p>
            <a:endParaRPr lang="es-MX"/>
          </a:p>
        </p:txBody>
      </p:sp>
      <p:sp>
        <p:nvSpPr>
          <p:cNvPr id="5" name="Text 3"/>
          <p:cNvSpPr/>
          <p:nvPr/>
        </p:nvSpPr>
        <p:spPr>
          <a:xfrm>
            <a:off x="1073150" y="2246610"/>
            <a:ext cx="29519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6D5CB"/>
                </a:solidFill>
                <a:latin typeface="Jost" pitchFamily="34" charset="0"/>
                <a:ea typeface="Jost" pitchFamily="34" charset="-122"/>
                <a:cs typeface="Jost" pitchFamily="34" charset="-120"/>
              </a:rPr>
              <a:t>01</a:t>
            </a:r>
            <a:endParaRPr lang="en-US" sz="1400" dirty="0"/>
          </a:p>
        </p:txBody>
      </p:sp>
      <p:sp>
        <p:nvSpPr>
          <p:cNvPr id="6" name="Text 4"/>
          <p:cNvSpPr/>
          <p:nvPr/>
        </p:nvSpPr>
        <p:spPr>
          <a:xfrm>
            <a:off x="1073150" y="2584351"/>
            <a:ext cx="2951912"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F4FAF8"/>
                </a:solidFill>
                <a:latin typeface="Jost" pitchFamily="34" charset="0"/>
                <a:ea typeface="Jost" pitchFamily="34" charset="-122"/>
                <a:cs typeface="Jost" pitchFamily="34" charset="-120"/>
              </a:rPr>
              <a:t>Quiebres de stock</a:t>
            </a:r>
            <a:endParaRPr lang="en-US" sz="2000" dirty="0"/>
          </a:p>
        </p:txBody>
      </p:sp>
      <p:sp>
        <p:nvSpPr>
          <p:cNvPr id="7" name="Text 5"/>
          <p:cNvSpPr/>
          <p:nvPr/>
        </p:nvSpPr>
        <p:spPr>
          <a:xfrm>
            <a:off x="1073150" y="2965351"/>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6D2"/>
                </a:solidFill>
                <a:latin typeface="Jost" pitchFamily="34" charset="0"/>
                <a:ea typeface="Jost" pitchFamily="34" charset="-122"/>
                <a:cs typeface="Jost" pitchFamily="34" charset="-120"/>
              </a:rPr>
              <a:t>Faltan cortes de alta demanda en fines de semana, festivos, quincenas y fin de mes.</a:t>
            </a:r>
            <a:endParaRPr lang="en-US" sz="1400" dirty="0"/>
          </a:p>
        </p:txBody>
      </p:sp>
      <p:sp>
        <p:nvSpPr>
          <p:cNvPr id="8" name="Shape 6"/>
          <p:cNvSpPr/>
          <p:nvPr/>
        </p:nvSpPr>
        <p:spPr>
          <a:xfrm>
            <a:off x="4405809" y="1989435"/>
            <a:ext cx="3380383" cy="1979612"/>
          </a:xfrm>
          <a:prstGeom prst="roundRect">
            <a:avLst>
              <a:gd name="adj" fmla="val 7538"/>
            </a:avLst>
          </a:prstGeom>
          <a:solidFill>
            <a:srgbClr val="FFFFFF">
              <a:alpha val="6000"/>
            </a:srgbClr>
          </a:solidFill>
          <a:ln w="6350">
            <a:solidFill>
              <a:srgbClr val="86D5CB">
                <a:alpha val="28000"/>
              </a:srgbClr>
            </a:solidFill>
            <a:prstDash val="solid"/>
          </a:ln>
        </p:spPr>
        <p:txBody>
          <a:bodyPr/>
          <a:lstStyle/>
          <a:p>
            <a:endParaRPr lang="es-MX"/>
          </a:p>
        </p:txBody>
      </p:sp>
      <p:sp>
        <p:nvSpPr>
          <p:cNvPr id="9" name="Text 7"/>
          <p:cNvSpPr/>
          <p:nvPr/>
        </p:nvSpPr>
        <p:spPr>
          <a:xfrm>
            <a:off x="4662984" y="2246610"/>
            <a:ext cx="295201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6D5CB"/>
                </a:solidFill>
                <a:latin typeface="Jost" pitchFamily="34" charset="0"/>
                <a:ea typeface="Jost" pitchFamily="34" charset="-122"/>
                <a:cs typeface="Jost" pitchFamily="34" charset="-120"/>
              </a:rPr>
              <a:t>02</a:t>
            </a:r>
            <a:endParaRPr lang="en-US" sz="1400" dirty="0"/>
          </a:p>
        </p:txBody>
      </p:sp>
      <p:sp>
        <p:nvSpPr>
          <p:cNvPr id="10" name="Text 8"/>
          <p:cNvSpPr/>
          <p:nvPr/>
        </p:nvSpPr>
        <p:spPr>
          <a:xfrm>
            <a:off x="4662984" y="2584351"/>
            <a:ext cx="3120033"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F4FAF8"/>
                </a:solidFill>
                <a:latin typeface="Jost" pitchFamily="34" charset="0"/>
                <a:ea typeface="Jost" pitchFamily="34" charset="-122"/>
                <a:cs typeface="Jost" pitchFamily="34" charset="-120"/>
              </a:rPr>
              <a:t>Sobreinventario y merma</a:t>
            </a:r>
            <a:endParaRPr lang="en-US" sz="2000" dirty="0"/>
          </a:p>
        </p:txBody>
      </p:sp>
      <p:sp>
        <p:nvSpPr>
          <p:cNvPr id="11" name="Text 9"/>
          <p:cNvSpPr/>
          <p:nvPr/>
        </p:nvSpPr>
        <p:spPr>
          <a:xfrm>
            <a:off x="4662984" y="2965351"/>
            <a:ext cx="2952014"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6D2"/>
                </a:solidFill>
                <a:latin typeface="Jost" pitchFamily="34" charset="0"/>
                <a:ea typeface="Jost" pitchFamily="34" charset="-122"/>
                <a:cs typeface="Jost" pitchFamily="34" charset="-120"/>
              </a:rPr>
              <a:t>Compras innecesarias de productos perecibles que terminan perdiéndose.</a:t>
            </a:r>
            <a:endParaRPr lang="en-US" sz="1400" dirty="0"/>
          </a:p>
        </p:txBody>
      </p:sp>
      <p:sp>
        <p:nvSpPr>
          <p:cNvPr id="12" name="Shape 10"/>
          <p:cNvSpPr/>
          <p:nvPr/>
        </p:nvSpPr>
        <p:spPr>
          <a:xfrm>
            <a:off x="7995741" y="1989435"/>
            <a:ext cx="3380284" cy="1979612"/>
          </a:xfrm>
          <a:prstGeom prst="roundRect">
            <a:avLst>
              <a:gd name="adj" fmla="val 7538"/>
            </a:avLst>
          </a:prstGeom>
          <a:solidFill>
            <a:srgbClr val="FFFFFF">
              <a:alpha val="6000"/>
            </a:srgbClr>
          </a:solidFill>
          <a:ln w="6350">
            <a:solidFill>
              <a:srgbClr val="86D5CB">
                <a:alpha val="28000"/>
              </a:srgbClr>
            </a:solidFill>
            <a:prstDash val="solid"/>
          </a:ln>
        </p:spPr>
        <p:txBody>
          <a:bodyPr/>
          <a:lstStyle/>
          <a:p>
            <a:endParaRPr lang="es-MX"/>
          </a:p>
        </p:txBody>
      </p:sp>
      <p:sp>
        <p:nvSpPr>
          <p:cNvPr id="13" name="Text 11"/>
          <p:cNvSpPr/>
          <p:nvPr/>
        </p:nvSpPr>
        <p:spPr>
          <a:xfrm>
            <a:off x="8252916" y="2246610"/>
            <a:ext cx="29519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6D5CB"/>
                </a:solidFill>
                <a:latin typeface="Jost" pitchFamily="34" charset="0"/>
                <a:ea typeface="Jost" pitchFamily="34" charset="-122"/>
                <a:cs typeface="Jost" pitchFamily="34" charset="-120"/>
              </a:rPr>
              <a:t>03</a:t>
            </a:r>
            <a:endParaRPr lang="en-US" sz="1400" dirty="0"/>
          </a:p>
        </p:txBody>
      </p:sp>
      <p:sp>
        <p:nvSpPr>
          <p:cNvPr id="14" name="Text 12"/>
          <p:cNvSpPr/>
          <p:nvPr/>
        </p:nvSpPr>
        <p:spPr>
          <a:xfrm>
            <a:off x="8252916" y="2584351"/>
            <a:ext cx="2951912" cy="317500"/>
          </a:xfrm>
          <a:prstGeom prst="rect">
            <a:avLst/>
          </a:prstGeom>
          <a:noFill/>
          <a:ln/>
        </p:spPr>
        <p:txBody>
          <a:bodyPr wrap="square" lIns="0" tIns="0" rIns="0" bIns="0" rtlCol="0" anchor="t">
            <a:normAutofit/>
          </a:bodyPr>
          <a:lstStyle/>
          <a:p>
            <a:pPr marL="0" indent="0" algn="l">
              <a:lnSpc>
                <a:spcPts val="2300"/>
              </a:lnSpc>
              <a:buNone/>
            </a:pPr>
            <a:r>
              <a:rPr lang="en-US" sz="2000" dirty="0">
                <a:solidFill>
                  <a:srgbClr val="F4FAF8"/>
                </a:solidFill>
                <a:latin typeface="Jost" pitchFamily="34" charset="0"/>
                <a:ea typeface="Jost" pitchFamily="34" charset="-122"/>
                <a:cs typeface="Jost" pitchFamily="34" charset="-120"/>
              </a:rPr>
              <a:t>Stock sin trazabilidad</a:t>
            </a:r>
            <a:endParaRPr lang="en-US" sz="2000" dirty="0"/>
          </a:p>
        </p:txBody>
      </p:sp>
      <p:sp>
        <p:nvSpPr>
          <p:cNvPr id="15" name="Text 13"/>
          <p:cNvSpPr/>
          <p:nvPr/>
        </p:nvSpPr>
        <p:spPr>
          <a:xfrm>
            <a:off x="8252916" y="2965351"/>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6D2"/>
                </a:solidFill>
                <a:latin typeface="Jost" pitchFamily="34" charset="0"/>
                <a:ea typeface="Jost" pitchFamily="34" charset="-122"/>
                <a:cs typeface="Jost" pitchFamily="34" charset="-120"/>
              </a:rPr>
              <a:t>Sin un registro de ventas y compras en tiempo real no se sabe cuánto hay realmente.</a:t>
            </a:r>
            <a:endParaRPr lang="en-US" sz="1400" dirty="0"/>
          </a:p>
        </p:txBody>
      </p:sp>
      <p:sp>
        <p:nvSpPr>
          <p:cNvPr id="16" name="Text 14"/>
          <p:cNvSpPr/>
          <p:nvPr/>
        </p:nvSpPr>
        <p:spPr>
          <a:xfrm>
            <a:off x="812800" y="4200823"/>
            <a:ext cx="9810750" cy="33397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EEF6F4"/>
                </a:solidFill>
                <a:latin typeface="Jost" pitchFamily="34" charset="0"/>
                <a:ea typeface="Jost" pitchFamily="34" charset="-122"/>
                <a:cs typeface="Jost" pitchFamily="34" charset="-120"/>
              </a:rPr>
              <a:t>Son pymes sin área de TI, que hoy se apoyan en estimaciones empíricas o promedios simples.</a:t>
            </a:r>
            <a:endParaRPr lang="en-US" sz="18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NexuStock</a:t>
            </a:r>
            <a:endParaRPr lang="en-US" sz="12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2 / 10</a:t>
            </a:r>
            <a:endParaRPr lang="en-US" sz="1200" dirty="0"/>
          </a:p>
        </p:txBody>
      </p:sp>
      <p:sp>
        <p:nvSpPr>
          <p:cNvPr id="19" name="Shape 17"/>
          <p:cNvSpPr/>
          <p:nvPr/>
        </p:nvSpPr>
        <p:spPr>
          <a:xfrm>
            <a:off x="10871200" y="355600"/>
            <a:ext cx="508000" cy="508000"/>
          </a:xfrm>
          <a:prstGeom prst="roundRect">
            <a:avLst>
              <a:gd name="adj" fmla="val 50000"/>
            </a:avLst>
          </a:prstGeom>
          <a:solidFill>
            <a:srgbClr val="F4F1E8"/>
          </a:solidFill>
          <a:ln/>
        </p:spPr>
        <p:txBody>
          <a:bodyPr/>
          <a:lstStyle/>
          <a:p>
            <a:endParaRPr lang="es-MX"/>
          </a:p>
        </p:txBody>
      </p:sp>
      <p:pic>
        <p:nvPicPr>
          <p:cNvPr id="20" name="Image 0" descr="Logo NexuStock"/>
          <p:cNvPicPr>
            <a:picLocks noChangeAspect="1"/>
          </p:cNvPicPr>
          <p:nvPr/>
        </p:nvPicPr>
        <p:blipFill>
          <a:blip r:embed="rId3"/>
          <a:srcRect/>
          <a:stretch/>
        </p:blipFill>
        <p:spPr>
          <a:xfrm>
            <a:off x="10871200" y="355600"/>
            <a:ext cx="508000" cy="508000"/>
          </a:xfrm>
          <a:prstGeom prst="ellipse">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4FAF8"/>
                </a:solidFill>
                <a:latin typeface="Jost" pitchFamily="34" charset="0"/>
                <a:ea typeface="Jost" pitchFamily="34" charset="-122"/>
                <a:cs typeface="Jost" pitchFamily="34" charset="-120"/>
              </a:rPr>
              <a:t>La solución</a:t>
            </a:r>
            <a:endParaRPr lang="en-US" sz="4000" dirty="0"/>
          </a:p>
        </p:txBody>
      </p:sp>
      <p:sp>
        <p:nvSpPr>
          <p:cNvPr id="3" name="Text 1"/>
          <p:cNvSpPr/>
          <p:nvPr/>
        </p:nvSpPr>
        <p:spPr>
          <a:xfrm>
            <a:off x="812800" y="142240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86D5CB"/>
                </a:solidFill>
                <a:latin typeface="Jost" pitchFamily="34" charset="0"/>
                <a:ea typeface="Jost" pitchFamily="34" charset="-122"/>
                <a:cs typeface="Jost" pitchFamily="34" charset="-120"/>
              </a:rPr>
              <a:t>NexuStock responde cuándo y cuánto comprar</a:t>
            </a:r>
            <a:endParaRPr lang="en-US" sz="2200" dirty="0"/>
          </a:p>
        </p:txBody>
      </p:sp>
      <p:sp>
        <p:nvSpPr>
          <p:cNvPr id="4" name="Shape 2"/>
          <p:cNvSpPr/>
          <p:nvPr/>
        </p:nvSpPr>
        <p:spPr>
          <a:xfrm>
            <a:off x="815975" y="1964035"/>
            <a:ext cx="3109317" cy="1996380"/>
          </a:xfrm>
          <a:prstGeom prst="roundRect">
            <a:avLst>
              <a:gd name="adj" fmla="val 7475"/>
            </a:avLst>
          </a:prstGeom>
          <a:solidFill>
            <a:srgbClr val="0B272C">
              <a:alpha val="55000"/>
            </a:srgbClr>
          </a:solidFill>
          <a:ln w="6350">
            <a:solidFill>
              <a:srgbClr val="86D5CB">
                <a:alpha val="35000"/>
              </a:srgbClr>
            </a:solidFill>
            <a:prstDash val="solid"/>
          </a:ln>
        </p:spPr>
        <p:txBody>
          <a:bodyPr/>
          <a:lstStyle/>
          <a:p>
            <a:endParaRPr lang="es-MX"/>
          </a:p>
        </p:txBody>
      </p:sp>
      <p:pic>
        <p:nvPicPr>
          <p:cNvPr id="5" name="Image 0" descr="Database"/>
          <p:cNvPicPr>
            <a:picLocks noChangeAspect="1"/>
          </p:cNvPicPr>
          <p:nvPr/>
        </p:nvPicPr>
        <p:blipFill>
          <a:blip r:embed="rId3"/>
          <a:srcRect/>
          <a:stretch/>
        </p:blipFill>
        <p:spPr>
          <a:xfrm>
            <a:off x="1047750" y="2195810"/>
            <a:ext cx="355600" cy="355600"/>
          </a:xfrm>
          <a:prstGeom prst="rect">
            <a:avLst/>
          </a:prstGeom>
        </p:spPr>
      </p:pic>
      <p:sp>
        <p:nvSpPr>
          <p:cNvPr id="6" name="Text 3"/>
          <p:cNvSpPr/>
          <p:nvPr/>
        </p:nvSpPr>
        <p:spPr>
          <a:xfrm>
            <a:off x="1047750" y="2627610"/>
            <a:ext cx="2725140"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4FAF8"/>
                </a:solidFill>
                <a:latin typeface="Jost" pitchFamily="34" charset="0"/>
                <a:ea typeface="Jost" pitchFamily="34" charset="-122"/>
                <a:cs typeface="Jost" pitchFamily="34" charset="-120"/>
              </a:rPr>
              <a:t>Registrar</a:t>
            </a:r>
            <a:endParaRPr lang="en-US" sz="2000" dirty="0"/>
          </a:p>
        </p:txBody>
      </p:sp>
      <p:sp>
        <p:nvSpPr>
          <p:cNvPr id="7" name="Text 4"/>
          <p:cNvSpPr/>
          <p:nvPr/>
        </p:nvSpPr>
        <p:spPr>
          <a:xfrm>
            <a:off x="1047750" y="3008610"/>
            <a:ext cx="2725140"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CD6D2"/>
                </a:solidFill>
                <a:latin typeface="Jost" pitchFamily="34" charset="0"/>
                <a:ea typeface="Jost" pitchFamily="34" charset="-122"/>
                <a:cs typeface="Jost" pitchFamily="34" charset="-120"/>
              </a:rPr>
              <a:t>Ventas y compras en transacciones atómicas: el stock siempre está al día.</a:t>
            </a:r>
            <a:endParaRPr lang="en-US" sz="1400" dirty="0"/>
          </a:p>
        </p:txBody>
      </p:sp>
      <p:pic>
        <p:nvPicPr>
          <p:cNvPr id="8" name="Image 1" descr="arrow-right"/>
          <p:cNvPicPr>
            <a:picLocks noChangeAspect="1"/>
          </p:cNvPicPr>
          <p:nvPr/>
        </p:nvPicPr>
        <p:blipFill>
          <a:blip r:embed="rId4"/>
          <a:srcRect/>
          <a:stretch/>
        </p:blipFill>
        <p:spPr>
          <a:xfrm>
            <a:off x="4055467" y="2873276"/>
            <a:ext cx="355600" cy="177800"/>
          </a:xfrm>
          <a:prstGeom prst="rect">
            <a:avLst/>
          </a:prstGeom>
        </p:spPr>
      </p:pic>
      <p:sp>
        <p:nvSpPr>
          <p:cNvPr id="9" name="Shape 5"/>
          <p:cNvSpPr/>
          <p:nvPr/>
        </p:nvSpPr>
        <p:spPr>
          <a:xfrm>
            <a:off x="4541242" y="1964035"/>
            <a:ext cx="3109416" cy="1996380"/>
          </a:xfrm>
          <a:prstGeom prst="roundRect">
            <a:avLst>
              <a:gd name="adj" fmla="val 7475"/>
            </a:avLst>
          </a:prstGeom>
          <a:solidFill>
            <a:srgbClr val="0B272C">
              <a:alpha val="55000"/>
            </a:srgbClr>
          </a:solidFill>
          <a:ln w="6350">
            <a:solidFill>
              <a:srgbClr val="86D5CB">
                <a:alpha val="35000"/>
              </a:srgbClr>
            </a:solidFill>
            <a:prstDash val="solid"/>
          </a:ln>
        </p:spPr>
        <p:txBody>
          <a:bodyPr/>
          <a:lstStyle/>
          <a:p>
            <a:endParaRPr lang="es-MX"/>
          </a:p>
        </p:txBody>
      </p:sp>
      <p:pic>
        <p:nvPicPr>
          <p:cNvPr id="10" name="Image 2" descr="Chart"/>
          <p:cNvPicPr>
            <a:picLocks noChangeAspect="1"/>
          </p:cNvPicPr>
          <p:nvPr/>
        </p:nvPicPr>
        <p:blipFill>
          <a:blip r:embed="rId5"/>
          <a:srcRect/>
          <a:stretch/>
        </p:blipFill>
        <p:spPr>
          <a:xfrm>
            <a:off x="4773017" y="2195810"/>
            <a:ext cx="355600" cy="355600"/>
          </a:xfrm>
          <a:prstGeom prst="rect">
            <a:avLst/>
          </a:prstGeom>
        </p:spPr>
      </p:pic>
      <p:sp>
        <p:nvSpPr>
          <p:cNvPr id="11" name="Text 6"/>
          <p:cNvSpPr/>
          <p:nvPr/>
        </p:nvSpPr>
        <p:spPr>
          <a:xfrm>
            <a:off x="4773017" y="2627610"/>
            <a:ext cx="2725242"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4FAF8"/>
                </a:solidFill>
                <a:latin typeface="Jost" pitchFamily="34" charset="0"/>
                <a:ea typeface="Jost" pitchFamily="34" charset="-122"/>
                <a:cs typeface="Jost" pitchFamily="34" charset="-120"/>
              </a:rPr>
              <a:t>Proyectar</a:t>
            </a:r>
            <a:endParaRPr lang="en-US" sz="2000" dirty="0"/>
          </a:p>
        </p:txBody>
      </p:sp>
      <p:sp>
        <p:nvSpPr>
          <p:cNvPr id="12" name="Text 7"/>
          <p:cNvSpPr/>
          <p:nvPr/>
        </p:nvSpPr>
        <p:spPr>
          <a:xfrm>
            <a:off x="4773017" y="3008610"/>
            <a:ext cx="2725242"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CD6D2"/>
                </a:solidFill>
                <a:latin typeface="Jost" pitchFamily="34" charset="0"/>
                <a:ea typeface="Jost" pitchFamily="34" charset="-122"/>
                <a:cs typeface="Jost" pitchFamily="34" charset="-120"/>
              </a:rPr>
              <a:t>Demanda por producto en la semana o el mes, con error medido en kg (MAE).</a:t>
            </a:r>
            <a:endParaRPr lang="en-US" sz="1400" dirty="0"/>
          </a:p>
        </p:txBody>
      </p:sp>
      <p:pic>
        <p:nvPicPr>
          <p:cNvPr id="13" name="Image 3" descr="arrow-right"/>
          <p:cNvPicPr>
            <a:picLocks noChangeAspect="1"/>
          </p:cNvPicPr>
          <p:nvPr/>
        </p:nvPicPr>
        <p:blipFill>
          <a:blip r:embed="rId4"/>
          <a:srcRect/>
          <a:stretch/>
        </p:blipFill>
        <p:spPr>
          <a:xfrm>
            <a:off x="7780834" y="2873276"/>
            <a:ext cx="355600" cy="177800"/>
          </a:xfrm>
          <a:prstGeom prst="rect">
            <a:avLst/>
          </a:prstGeom>
        </p:spPr>
      </p:pic>
      <p:sp>
        <p:nvSpPr>
          <p:cNvPr id="14" name="Shape 8"/>
          <p:cNvSpPr/>
          <p:nvPr/>
        </p:nvSpPr>
        <p:spPr>
          <a:xfrm>
            <a:off x="8266609" y="1964035"/>
            <a:ext cx="3109416" cy="1996380"/>
          </a:xfrm>
          <a:prstGeom prst="roundRect">
            <a:avLst>
              <a:gd name="adj" fmla="val 7475"/>
            </a:avLst>
          </a:prstGeom>
          <a:solidFill>
            <a:srgbClr val="0B272C">
              <a:alpha val="55000"/>
            </a:srgbClr>
          </a:solidFill>
          <a:ln w="6350">
            <a:solidFill>
              <a:srgbClr val="86D5CB">
                <a:alpha val="35000"/>
              </a:srgbClr>
            </a:solidFill>
            <a:prstDash val="solid"/>
          </a:ln>
        </p:spPr>
        <p:txBody>
          <a:bodyPr/>
          <a:lstStyle/>
          <a:p>
            <a:endParaRPr lang="es-MX"/>
          </a:p>
        </p:txBody>
      </p:sp>
      <p:pic>
        <p:nvPicPr>
          <p:cNvPr id="15" name="Image 4" descr="Warning"/>
          <p:cNvPicPr>
            <a:picLocks noChangeAspect="1"/>
          </p:cNvPicPr>
          <p:nvPr/>
        </p:nvPicPr>
        <p:blipFill>
          <a:blip r:embed="rId6"/>
          <a:srcRect/>
          <a:stretch/>
        </p:blipFill>
        <p:spPr>
          <a:xfrm>
            <a:off x="8498384" y="2195810"/>
            <a:ext cx="355600" cy="355600"/>
          </a:xfrm>
          <a:prstGeom prst="rect">
            <a:avLst/>
          </a:prstGeom>
        </p:spPr>
      </p:pic>
      <p:sp>
        <p:nvSpPr>
          <p:cNvPr id="16" name="Text 9"/>
          <p:cNvSpPr/>
          <p:nvPr/>
        </p:nvSpPr>
        <p:spPr>
          <a:xfrm>
            <a:off x="8498384" y="2627610"/>
            <a:ext cx="2725242"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4FAF8"/>
                </a:solidFill>
                <a:latin typeface="Jost" pitchFamily="34" charset="0"/>
                <a:ea typeface="Jost" pitchFamily="34" charset="-122"/>
                <a:cs typeface="Jost" pitchFamily="34" charset="-120"/>
              </a:rPr>
              <a:t>Alertar</a:t>
            </a:r>
            <a:endParaRPr lang="en-US" sz="2000" dirty="0"/>
          </a:p>
        </p:txBody>
      </p:sp>
      <p:sp>
        <p:nvSpPr>
          <p:cNvPr id="17" name="Text 10"/>
          <p:cNvSpPr/>
          <p:nvPr/>
        </p:nvSpPr>
        <p:spPr>
          <a:xfrm>
            <a:off x="8498384" y="3008610"/>
            <a:ext cx="2725242"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BCD6D2"/>
                </a:solidFill>
                <a:latin typeface="Jost" pitchFamily="34" charset="0"/>
                <a:ea typeface="Jost" pitchFamily="34" charset="-122"/>
                <a:cs typeface="Jost" pitchFamily="34" charset="-120"/>
              </a:rPr>
              <a:t>Cantidad sugerida y fecha límite de pedido según el lead time del proveedor.</a:t>
            </a:r>
            <a:endParaRPr lang="en-US" sz="1400" dirty="0"/>
          </a:p>
        </p:txBody>
      </p:sp>
      <p:sp>
        <p:nvSpPr>
          <p:cNvPr id="18" name="Text 11"/>
          <p:cNvSpPr/>
          <p:nvPr/>
        </p:nvSpPr>
        <p:spPr>
          <a:xfrm>
            <a:off x="812800" y="4166791"/>
            <a:ext cx="1023838" cy="375841"/>
          </a:xfrm>
          <a:prstGeom prst="roundRect">
            <a:avLst>
              <a:gd name="adj" fmla="val 50000"/>
            </a:avLst>
          </a:prstGeom>
          <a:solidFill>
            <a:srgbClr val="E8685C"/>
          </a:solidFill>
          <a:ln/>
        </p:spPr>
        <p:txBody>
          <a:bodyPr wrap="none" lIns="0" tIns="0" rIns="0" bIns="0" rtlCol="0" anchor="ctr">
            <a:normAutofit/>
          </a:bodyPr>
          <a:lstStyle/>
          <a:p>
            <a:pPr marL="0" indent="0" algn="ctr">
              <a:lnSpc>
                <a:spcPts val="1960"/>
              </a:lnSpc>
              <a:buNone/>
            </a:pPr>
            <a:r>
              <a:rPr lang="en-US" sz="1400" b="1" dirty="0">
                <a:solidFill>
                  <a:srgbClr val="2A0F0C"/>
                </a:solidFill>
                <a:latin typeface="Jost" pitchFamily="34" charset="0"/>
                <a:ea typeface="Jost" pitchFamily="34" charset="-122"/>
                <a:cs typeface="Jost" pitchFamily="34" charset="-120"/>
              </a:rPr>
              <a:t>Quiebre</a:t>
            </a:r>
            <a:endParaRPr lang="en-US" sz="1400" dirty="0"/>
          </a:p>
        </p:txBody>
      </p:sp>
      <p:sp>
        <p:nvSpPr>
          <p:cNvPr id="19" name="Text 12"/>
          <p:cNvSpPr/>
          <p:nvPr/>
        </p:nvSpPr>
        <p:spPr>
          <a:xfrm>
            <a:off x="1963638" y="4166791"/>
            <a:ext cx="710009" cy="375841"/>
          </a:xfrm>
          <a:prstGeom prst="roundRect">
            <a:avLst>
              <a:gd name="adj" fmla="val 50000"/>
            </a:avLst>
          </a:prstGeom>
          <a:solidFill>
            <a:srgbClr val="E9C75A"/>
          </a:solidFill>
          <a:ln/>
        </p:spPr>
        <p:txBody>
          <a:bodyPr wrap="none" lIns="0" tIns="0" rIns="0" bIns="0" rtlCol="0" anchor="ctr">
            <a:normAutofit/>
          </a:bodyPr>
          <a:lstStyle/>
          <a:p>
            <a:pPr marL="0" indent="0" algn="ctr">
              <a:lnSpc>
                <a:spcPts val="1960"/>
              </a:lnSpc>
              <a:buNone/>
            </a:pPr>
            <a:r>
              <a:rPr lang="en-US" sz="1400" b="1" dirty="0">
                <a:solidFill>
                  <a:srgbClr val="2B2306"/>
                </a:solidFill>
                <a:latin typeface="Jost" pitchFamily="34" charset="0"/>
                <a:ea typeface="Jost" pitchFamily="34" charset="-122"/>
                <a:cs typeface="Jost" pitchFamily="34" charset="-120"/>
              </a:rPr>
              <a:t>Bajo</a:t>
            </a:r>
            <a:endParaRPr lang="en-US" sz="1400" dirty="0"/>
          </a:p>
        </p:txBody>
      </p:sp>
      <p:sp>
        <p:nvSpPr>
          <p:cNvPr id="20" name="Text 13"/>
          <p:cNvSpPr/>
          <p:nvPr/>
        </p:nvSpPr>
        <p:spPr>
          <a:xfrm>
            <a:off x="2800648" y="4166791"/>
            <a:ext cx="953393" cy="375841"/>
          </a:xfrm>
          <a:prstGeom prst="roundRect">
            <a:avLst>
              <a:gd name="adj" fmla="val 50000"/>
            </a:avLst>
          </a:prstGeom>
          <a:solidFill>
            <a:srgbClr val="6FCF97"/>
          </a:solidFill>
          <a:ln/>
        </p:spPr>
        <p:txBody>
          <a:bodyPr wrap="none" lIns="0" tIns="0" rIns="0" bIns="0" rtlCol="0" anchor="ctr">
            <a:normAutofit/>
          </a:bodyPr>
          <a:lstStyle/>
          <a:p>
            <a:pPr marL="0" indent="0" algn="ctr">
              <a:lnSpc>
                <a:spcPts val="1960"/>
              </a:lnSpc>
              <a:buNone/>
            </a:pPr>
            <a:r>
              <a:rPr lang="en-US" sz="1400" b="1" dirty="0">
                <a:solidFill>
                  <a:srgbClr val="0B2A18"/>
                </a:solidFill>
                <a:latin typeface="Jost" pitchFamily="34" charset="0"/>
                <a:ea typeface="Jost" pitchFamily="34" charset="-122"/>
                <a:cs typeface="Jost" pitchFamily="34" charset="-120"/>
              </a:rPr>
              <a:t>Óptimo</a:t>
            </a:r>
            <a:endParaRPr lang="en-US" sz="1400" dirty="0"/>
          </a:p>
        </p:txBody>
      </p:sp>
      <p:sp>
        <p:nvSpPr>
          <p:cNvPr id="21" name="Text 14"/>
          <p:cNvSpPr/>
          <p:nvPr/>
        </p:nvSpPr>
        <p:spPr>
          <a:xfrm>
            <a:off x="3881041" y="4234656"/>
            <a:ext cx="640969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EF6F4"/>
                </a:solidFill>
                <a:latin typeface="Jost" pitchFamily="34" charset="0"/>
                <a:ea typeface="Jost" pitchFamily="34" charset="-122"/>
                <a:cs typeface="Jost" pitchFamily="34" charset="-120"/>
              </a:rPr>
              <a:t>Ejemplo: demanda 140 kg × 1,10 − stock 40 kg = 114 kg a pedir.</a:t>
            </a:r>
            <a:endParaRPr lang="en-US" sz="1400" dirty="0"/>
          </a:p>
        </p:txBody>
      </p:sp>
      <p:sp>
        <p:nvSpPr>
          <p:cNvPr id="22"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NexuStock</a:t>
            </a:r>
            <a:endParaRPr lang="en-US" sz="1200" dirty="0"/>
          </a:p>
        </p:txBody>
      </p:sp>
      <p:sp>
        <p:nvSpPr>
          <p:cNvPr id="23" name="Text 1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3 / 10</a:t>
            </a:r>
            <a:endParaRPr lang="en-US" sz="1200" dirty="0"/>
          </a:p>
        </p:txBody>
      </p:sp>
      <p:sp>
        <p:nvSpPr>
          <p:cNvPr id="24" name="Shape 17"/>
          <p:cNvSpPr/>
          <p:nvPr/>
        </p:nvSpPr>
        <p:spPr>
          <a:xfrm>
            <a:off x="10871200" y="355600"/>
            <a:ext cx="508000" cy="508000"/>
          </a:xfrm>
          <a:prstGeom prst="roundRect">
            <a:avLst>
              <a:gd name="adj" fmla="val 50000"/>
            </a:avLst>
          </a:prstGeom>
          <a:solidFill>
            <a:srgbClr val="F4F1E8"/>
          </a:solidFill>
          <a:ln/>
        </p:spPr>
        <p:txBody>
          <a:bodyPr/>
          <a:lstStyle/>
          <a:p>
            <a:endParaRPr lang="es-MX"/>
          </a:p>
        </p:txBody>
      </p:sp>
      <p:pic>
        <p:nvPicPr>
          <p:cNvPr id="25" name="Image 5" descr="Logo NexuStock"/>
          <p:cNvPicPr>
            <a:picLocks noChangeAspect="1"/>
          </p:cNvPicPr>
          <p:nvPr/>
        </p:nvPicPr>
        <p:blipFill>
          <a:blip r:embed="rId7"/>
          <a:srcRect/>
          <a:stretch/>
        </p:blipFill>
        <p:spPr>
          <a:xfrm>
            <a:off x="10871200" y="355600"/>
            <a:ext cx="508000" cy="508000"/>
          </a:xfrm>
          <a:prstGeom prst="ellipse">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4FAF8"/>
                </a:solidFill>
                <a:latin typeface="Jost" pitchFamily="34" charset="0"/>
                <a:ea typeface="Jost" pitchFamily="34" charset="-122"/>
                <a:cs typeface="Jost" pitchFamily="34" charset="-120"/>
              </a:rPr>
              <a:t>Arquitectura</a:t>
            </a:r>
            <a:endParaRPr lang="en-US" sz="4000" dirty="0"/>
          </a:p>
        </p:txBody>
      </p:sp>
      <p:sp>
        <p:nvSpPr>
          <p:cNvPr id="3" name="Text 1"/>
          <p:cNvSpPr/>
          <p:nvPr/>
        </p:nvSpPr>
        <p:spPr>
          <a:xfrm>
            <a:off x="812800" y="142240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86D5CB"/>
                </a:solidFill>
                <a:latin typeface="Jost" pitchFamily="34" charset="0"/>
                <a:ea typeface="Jost" pitchFamily="34" charset="-122"/>
                <a:cs typeface="Jost" pitchFamily="34" charset="-120"/>
              </a:rPr>
              <a:t>Tres capas y un motor predictivo en la nube</a:t>
            </a:r>
            <a:endParaRPr lang="en-US" sz="2200" dirty="0"/>
          </a:p>
        </p:txBody>
      </p:sp>
      <p:sp>
        <p:nvSpPr>
          <p:cNvPr id="4" name="Shape 2"/>
          <p:cNvSpPr/>
          <p:nvPr/>
        </p:nvSpPr>
        <p:spPr>
          <a:xfrm>
            <a:off x="1298575" y="2079526"/>
            <a:ext cx="2787650" cy="920651"/>
          </a:xfrm>
          <a:prstGeom prst="roundRect">
            <a:avLst>
              <a:gd name="adj" fmla="val 16209"/>
            </a:avLst>
          </a:prstGeom>
          <a:solidFill>
            <a:srgbClr val="FFFFFF">
              <a:alpha val="6000"/>
            </a:srgbClr>
          </a:solidFill>
          <a:ln w="6350">
            <a:solidFill>
              <a:srgbClr val="86D5CB">
                <a:alpha val="35000"/>
              </a:srgbClr>
            </a:solidFill>
            <a:prstDash val="solid"/>
          </a:ln>
        </p:spPr>
        <p:txBody>
          <a:bodyPr/>
          <a:lstStyle/>
          <a:p>
            <a:endParaRPr lang="es-MX"/>
          </a:p>
        </p:txBody>
      </p:sp>
      <p:sp>
        <p:nvSpPr>
          <p:cNvPr id="5" name="Text 3"/>
          <p:cNvSpPr/>
          <p:nvPr/>
        </p:nvSpPr>
        <p:spPr>
          <a:xfrm>
            <a:off x="1504950" y="2260501"/>
            <a:ext cx="2446147" cy="314920"/>
          </a:xfrm>
          <a:prstGeom prst="rect">
            <a:avLst/>
          </a:prstGeom>
          <a:noFill/>
          <a:ln/>
        </p:spPr>
        <p:txBody>
          <a:bodyPr wrap="square" lIns="0" tIns="0" rIns="0" bIns="0" rtlCol="0" anchor="t">
            <a:normAutofit/>
          </a:bodyPr>
          <a:lstStyle/>
          <a:p>
            <a:pPr marL="0" indent="0" algn="l">
              <a:lnSpc>
                <a:spcPts val="2280"/>
              </a:lnSpc>
              <a:buNone/>
            </a:pPr>
            <a:r>
              <a:rPr lang="en-US" sz="1900" dirty="0">
                <a:solidFill>
                  <a:srgbClr val="F4FAF8"/>
                </a:solidFill>
                <a:latin typeface="Jost" pitchFamily="34" charset="0"/>
                <a:ea typeface="Jost" pitchFamily="34" charset="-122"/>
                <a:cs typeface="Jost" pitchFamily="34" charset="-120"/>
              </a:rPr>
              <a:t>Navegador</a:t>
            </a:r>
            <a:endParaRPr lang="en-US" sz="1900" dirty="0"/>
          </a:p>
        </p:txBody>
      </p:sp>
      <p:sp>
        <p:nvSpPr>
          <p:cNvPr id="6" name="Text 4"/>
          <p:cNvSpPr/>
          <p:nvPr/>
        </p:nvSpPr>
        <p:spPr>
          <a:xfrm>
            <a:off x="1504950" y="2588121"/>
            <a:ext cx="2446147"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CD6D2"/>
                </a:solidFill>
                <a:latin typeface="Jost" pitchFamily="34" charset="0"/>
                <a:ea typeface="Jost" pitchFamily="34" charset="-122"/>
                <a:cs typeface="Jost" pitchFamily="34" charset="-120"/>
              </a:rPr>
              <a:t>Next.js · React</a:t>
            </a:r>
            <a:endParaRPr lang="en-US" sz="1400" dirty="0"/>
          </a:p>
        </p:txBody>
      </p:sp>
      <p:pic>
        <p:nvPicPr>
          <p:cNvPr id="7" name="Image 0" descr="arrow-right"/>
          <p:cNvPicPr>
            <a:picLocks noChangeAspect="1"/>
          </p:cNvPicPr>
          <p:nvPr/>
        </p:nvPicPr>
        <p:blipFill>
          <a:blip r:embed="rId3"/>
          <a:srcRect/>
          <a:stretch/>
        </p:blipFill>
        <p:spPr>
          <a:xfrm>
            <a:off x="4216400" y="2451001"/>
            <a:ext cx="355600" cy="177800"/>
          </a:xfrm>
          <a:prstGeom prst="rect">
            <a:avLst/>
          </a:prstGeom>
        </p:spPr>
      </p:pic>
      <p:sp>
        <p:nvSpPr>
          <p:cNvPr id="8" name="Shape 5"/>
          <p:cNvSpPr/>
          <p:nvPr/>
        </p:nvSpPr>
        <p:spPr>
          <a:xfrm>
            <a:off x="4702175" y="2079526"/>
            <a:ext cx="2787650" cy="920651"/>
          </a:xfrm>
          <a:prstGeom prst="roundRect">
            <a:avLst>
              <a:gd name="adj" fmla="val 16209"/>
            </a:avLst>
          </a:prstGeom>
          <a:solidFill>
            <a:srgbClr val="86D5CB">
              <a:alpha val="14000"/>
            </a:srgbClr>
          </a:solidFill>
          <a:ln w="6350">
            <a:solidFill>
              <a:srgbClr val="86D5CB"/>
            </a:solidFill>
            <a:prstDash val="solid"/>
          </a:ln>
        </p:spPr>
        <p:txBody>
          <a:bodyPr/>
          <a:lstStyle/>
          <a:p>
            <a:endParaRPr lang="es-MX"/>
          </a:p>
        </p:txBody>
      </p:sp>
      <p:sp>
        <p:nvSpPr>
          <p:cNvPr id="9" name="Text 6"/>
          <p:cNvSpPr/>
          <p:nvPr/>
        </p:nvSpPr>
        <p:spPr>
          <a:xfrm>
            <a:off x="4908550" y="2260501"/>
            <a:ext cx="2446147" cy="314920"/>
          </a:xfrm>
          <a:prstGeom prst="rect">
            <a:avLst/>
          </a:prstGeom>
          <a:noFill/>
          <a:ln/>
        </p:spPr>
        <p:txBody>
          <a:bodyPr wrap="square" lIns="0" tIns="0" rIns="0" bIns="0" rtlCol="0" anchor="t">
            <a:normAutofit/>
          </a:bodyPr>
          <a:lstStyle/>
          <a:p>
            <a:pPr marL="0" indent="0" algn="l">
              <a:lnSpc>
                <a:spcPts val="2280"/>
              </a:lnSpc>
              <a:buNone/>
            </a:pPr>
            <a:r>
              <a:rPr lang="en-US" sz="1900" dirty="0">
                <a:solidFill>
                  <a:srgbClr val="F4FAF8"/>
                </a:solidFill>
                <a:latin typeface="Jost" pitchFamily="34" charset="0"/>
                <a:ea typeface="Jost" pitchFamily="34" charset="-122"/>
                <a:cs typeface="Jost" pitchFamily="34" charset="-120"/>
              </a:rPr>
              <a:t>API REST</a:t>
            </a:r>
            <a:endParaRPr lang="en-US" sz="1900" dirty="0"/>
          </a:p>
        </p:txBody>
      </p:sp>
      <p:sp>
        <p:nvSpPr>
          <p:cNvPr id="10" name="Text 7"/>
          <p:cNvSpPr/>
          <p:nvPr/>
        </p:nvSpPr>
        <p:spPr>
          <a:xfrm>
            <a:off x="4908550" y="2588121"/>
            <a:ext cx="2446147"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CD6D2"/>
                </a:solidFill>
                <a:latin typeface="Jost" pitchFamily="34" charset="0"/>
                <a:ea typeface="Jost" pitchFamily="34" charset="-122"/>
                <a:cs typeface="Jost" pitchFamily="34" charset="-120"/>
              </a:rPr>
              <a:t>Node.js · Express · Docker</a:t>
            </a:r>
            <a:endParaRPr lang="en-US" sz="1400" dirty="0"/>
          </a:p>
        </p:txBody>
      </p:sp>
      <p:pic>
        <p:nvPicPr>
          <p:cNvPr id="11" name="Image 1" descr="arrow-right"/>
          <p:cNvPicPr>
            <a:picLocks noChangeAspect="1"/>
          </p:cNvPicPr>
          <p:nvPr/>
        </p:nvPicPr>
        <p:blipFill>
          <a:blip r:embed="rId3"/>
          <a:srcRect/>
          <a:stretch/>
        </p:blipFill>
        <p:spPr>
          <a:xfrm>
            <a:off x="7620000" y="2451001"/>
            <a:ext cx="355600" cy="177800"/>
          </a:xfrm>
          <a:prstGeom prst="rect">
            <a:avLst/>
          </a:prstGeom>
        </p:spPr>
      </p:pic>
      <p:sp>
        <p:nvSpPr>
          <p:cNvPr id="12" name="Shape 8"/>
          <p:cNvSpPr/>
          <p:nvPr/>
        </p:nvSpPr>
        <p:spPr>
          <a:xfrm>
            <a:off x="8105775" y="1964035"/>
            <a:ext cx="2787650" cy="1151731"/>
          </a:xfrm>
          <a:prstGeom prst="roundRect">
            <a:avLst>
              <a:gd name="adj" fmla="val 12957"/>
            </a:avLst>
          </a:prstGeom>
          <a:solidFill>
            <a:srgbClr val="FFFFFF">
              <a:alpha val="6000"/>
            </a:srgbClr>
          </a:solidFill>
          <a:ln w="6350">
            <a:solidFill>
              <a:srgbClr val="86D5CB">
                <a:alpha val="35000"/>
              </a:srgbClr>
            </a:solidFill>
            <a:prstDash val="solid"/>
          </a:ln>
        </p:spPr>
        <p:txBody>
          <a:bodyPr/>
          <a:lstStyle/>
          <a:p>
            <a:endParaRPr lang="es-MX"/>
          </a:p>
        </p:txBody>
      </p:sp>
      <p:sp>
        <p:nvSpPr>
          <p:cNvPr id="13" name="Text 9"/>
          <p:cNvSpPr/>
          <p:nvPr/>
        </p:nvSpPr>
        <p:spPr>
          <a:xfrm>
            <a:off x="8312150" y="2145010"/>
            <a:ext cx="2446147" cy="314920"/>
          </a:xfrm>
          <a:prstGeom prst="rect">
            <a:avLst/>
          </a:prstGeom>
          <a:noFill/>
          <a:ln/>
        </p:spPr>
        <p:txBody>
          <a:bodyPr wrap="square" lIns="0" tIns="0" rIns="0" bIns="0" rtlCol="0" anchor="t">
            <a:normAutofit/>
          </a:bodyPr>
          <a:lstStyle/>
          <a:p>
            <a:pPr marL="0" indent="0" algn="l">
              <a:lnSpc>
                <a:spcPts val="2280"/>
              </a:lnSpc>
              <a:buNone/>
            </a:pPr>
            <a:r>
              <a:rPr lang="en-US" sz="1900" dirty="0">
                <a:solidFill>
                  <a:srgbClr val="F4FAF8"/>
                </a:solidFill>
                <a:latin typeface="Jost" pitchFamily="34" charset="0"/>
                <a:ea typeface="Jost" pitchFamily="34" charset="-122"/>
                <a:cs typeface="Jost" pitchFamily="34" charset="-120"/>
              </a:rPr>
              <a:t>PostgreSQL</a:t>
            </a:r>
            <a:endParaRPr lang="en-US" sz="1900" dirty="0"/>
          </a:p>
        </p:txBody>
      </p:sp>
      <p:sp>
        <p:nvSpPr>
          <p:cNvPr id="14" name="Text 10"/>
          <p:cNvSpPr/>
          <p:nvPr/>
        </p:nvSpPr>
        <p:spPr>
          <a:xfrm>
            <a:off x="8312150" y="2472630"/>
            <a:ext cx="244614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CD6D2"/>
                </a:solidFill>
                <a:latin typeface="Jost" pitchFamily="34" charset="0"/>
                <a:ea typeface="Jost" pitchFamily="34" charset="-122"/>
                <a:cs typeface="Jost" pitchFamily="34" charset="-120"/>
              </a:rPr>
              <a:t>Supabase → proveedor definitivo</a:t>
            </a:r>
            <a:endParaRPr lang="en-US" sz="1400" dirty="0"/>
          </a:p>
        </p:txBody>
      </p:sp>
      <p:pic>
        <p:nvPicPr>
          <p:cNvPr id="15" name="Image 2" descr="arrow-down"/>
          <p:cNvPicPr>
            <a:picLocks noChangeAspect="1"/>
          </p:cNvPicPr>
          <p:nvPr/>
        </p:nvPicPr>
        <p:blipFill>
          <a:blip r:embed="rId4"/>
          <a:srcRect/>
          <a:stretch/>
        </p:blipFill>
        <p:spPr>
          <a:xfrm>
            <a:off x="6007100" y="3322141"/>
            <a:ext cx="177800" cy="304800"/>
          </a:xfrm>
          <a:prstGeom prst="rect">
            <a:avLst/>
          </a:prstGeom>
        </p:spPr>
      </p:pic>
      <p:sp>
        <p:nvSpPr>
          <p:cNvPr id="16" name="Shape 11"/>
          <p:cNvSpPr/>
          <p:nvPr/>
        </p:nvSpPr>
        <p:spPr>
          <a:xfrm>
            <a:off x="3686175" y="3706316"/>
            <a:ext cx="4819650" cy="1151731"/>
          </a:xfrm>
          <a:prstGeom prst="roundRect">
            <a:avLst>
              <a:gd name="adj" fmla="val 12957"/>
            </a:avLst>
          </a:prstGeom>
          <a:solidFill>
            <a:srgbClr val="FFFFFF">
              <a:alpha val="6000"/>
            </a:srgbClr>
          </a:solidFill>
          <a:ln w="6350">
            <a:solidFill>
              <a:srgbClr val="86D5CB">
                <a:alpha val="35000"/>
              </a:srgbClr>
            </a:solidFill>
            <a:prstDash val="solid"/>
          </a:ln>
        </p:spPr>
        <p:txBody>
          <a:bodyPr/>
          <a:lstStyle/>
          <a:p>
            <a:endParaRPr lang="es-MX"/>
          </a:p>
        </p:txBody>
      </p:sp>
      <p:sp>
        <p:nvSpPr>
          <p:cNvPr id="17" name="Text 12"/>
          <p:cNvSpPr/>
          <p:nvPr/>
        </p:nvSpPr>
        <p:spPr>
          <a:xfrm>
            <a:off x="3892550" y="3887291"/>
            <a:ext cx="4539107" cy="314920"/>
          </a:xfrm>
          <a:prstGeom prst="rect">
            <a:avLst/>
          </a:prstGeom>
          <a:noFill/>
          <a:ln/>
        </p:spPr>
        <p:txBody>
          <a:bodyPr wrap="square" lIns="0" tIns="0" rIns="0" bIns="0" rtlCol="0" anchor="t">
            <a:normAutofit/>
          </a:bodyPr>
          <a:lstStyle/>
          <a:p>
            <a:pPr marL="0" indent="0" algn="l">
              <a:lnSpc>
                <a:spcPts val="2280"/>
              </a:lnSpc>
              <a:buNone/>
            </a:pPr>
            <a:r>
              <a:rPr lang="en-US" sz="1900" dirty="0">
                <a:solidFill>
                  <a:srgbClr val="F4FAF8"/>
                </a:solidFill>
                <a:latin typeface="Jost" pitchFamily="34" charset="0"/>
                <a:ea typeface="Jost" pitchFamily="34" charset="-122"/>
                <a:cs typeface="Jost" pitchFamily="34" charset="-120"/>
              </a:rPr>
              <a:t>Motor predictivo</a:t>
            </a:r>
            <a:endParaRPr lang="en-US" sz="1900" dirty="0"/>
          </a:p>
        </p:txBody>
      </p:sp>
      <p:sp>
        <p:nvSpPr>
          <p:cNvPr id="18" name="Text 13"/>
          <p:cNvSpPr/>
          <p:nvPr/>
        </p:nvSpPr>
        <p:spPr>
          <a:xfrm>
            <a:off x="3892550" y="4214912"/>
            <a:ext cx="4539107"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CD6D2"/>
                </a:solidFill>
                <a:latin typeface="Jost" pitchFamily="34" charset="0"/>
                <a:ea typeface="Jost" pitchFamily="34" charset="-122"/>
                <a:cs typeface="Jost" pitchFamily="34" charset="-120"/>
              </a:rPr>
              <a:t>Python · proceso hijo · responde en menos de 2,0 s o se usa el respaldo</a:t>
            </a:r>
            <a:endParaRPr lang="en-US" sz="1400" dirty="0"/>
          </a:p>
        </p:txBody>
      </p:sp>
      <p:sp>
        <p:nvSpPr>
          <p:cNvPr id="19" name="Text 14"/>
          <p:cNvSpPr/>
          <p:nvPr/>
        </p:nvSpPr>
        <p:spPr>
          <a:xfrm>
            <a:off x="815975" y="5067598"/>
            <a:ext cx="1956792" cy="364430"/>
          </a:xfrm>
          <a:prstGeom prst="roundRect">
            <a:avLst>
              <a:gd name="adj" fmla="val 50000"/>
            </a:avLst>
          </a:prstGeom>
          <a:noFill/>
          <a:ln w="6350">
            <a:solidFill>
              <a:srgbClr val="86D5CB">
                <a:alpha val="50000"/>
              </a:srgbClr>
            </a:solidFill>
            <a:prstDash val="solid"/>
          </a:ln>
        </p:spPr>
        <p:txBody>
          <a:bodyPr wrap="none" lIns="0" tIns="0" rIns="0" bIns="0" rtlCol="0" anchor="ctr">
            <a:normAutofit/>
          </a:bodyPr>
          <a:lstStyle/>
          <a:p>
            <a:pPr marL="0" indent="0" algn="ctr">
              <a:lnSpc>
                <a:spcPts val="1820"/>
              </a:lnSpc>
              <a:buNone/>
            </a:pPr>
            <a:r>
              <a:rPr lang="en-US" sz="1300" dirty="0">
                <a:solidFill>
                  <a:srgbClr val="EEF6F4"/>
                </a:solidFill>
                <a:latin typeface="Jost" pitchFamily="34" charset="0"/>
                <a:ea typeface="Jost" pitchFamily="34" charset="-122"/>
                <a:cs typeface="Jost" pitchFamily="34" charset="-120"/>
              </a:rPr>
              <a:t>Contraseñas con bcrypt</a:t>
            </a:r>
            <a:endParaRPr lang="en-US" sz="1300" dirty="0"/>
          </a:p>
        </p:txBody>
      </p:sp>
      <p:sp>
        <p:nvSpPr>
          <p:cNvPr id="20" name="Text 15"/>
          <p:cNvSpPr/>
          <p:nvPr/>
        </p:nvSpPr>
        <p:spPr>
          <a:xfrm>
            <a:off x="2880717" y="5067598"/>
            <a:ext cx="1643360" cy="364430"/>
          </a:xfrm>
          <a:prstGeom prst="roundRect">
            <a:avLst>
              <a:gd name="adj" fmla="val 50000"/>
            </a:avLst>
          </a:prstGeom>
          <a:noFill/>
          <a:ln w="6350">
            <a:solidFill>
              <a:srgbClr val="86D5CB">
                <a:alpha val="50000"/>
              </a:srgbClr>
            </a:solidFill>
            <a:prstDash val="solid"/>
          </a:ln>
        </p:spPr>
        <p:txBody>
          <a:bodyPr wrap="none" lIns="0" tIns="0" rIns="0" bIns="0" rtlCol="0" anchor="ctr">
            <a:normAutofit/>
          </a:bodyPr>
          <a:lstStyle/>
          <a:p>
            <a:pPr marL="0" indent="0" algn="ctr">
              <a:lnSpc>
                <a:spcPts val="1820"/>
              </a:lnSpc>
              <a:buNone/>
            </a:pPr>
            <a:r>
              <a:rPr lang="en-US" sz="1300" dirty="0">
                <a:solidFill>
                  <a:srgbClr val="EEF6F4"/>
                </a:solidFill>
                <a:latin typeface="Jost" pitchFamily="34" charset="0"/>
                <a:ea typeface="Jost" pitchFamily="34" charset="-122"/>
                <a:cs typeface="Jost" pitchFamily="34" charset="-120"/>
              </a:rPr>
              <a:t>Sesión JWT + roles</a:t>
            </a:r>
            <a:endParaRPr lang="en-US" sz="1300" dirty="0"/>
          </a:p>
        </p:txBody>
      </p:sp>
      <p:sp>
        <p:nvSpPr>
          <p:cNvPr id="21" name="Text 16"/>
          <p:cNvSpPr/>
          <p:nvPr/>
        </p:nvSpPr>
        <p:spPr>
          <a:xfrm>
            <a:off x="4632027" y="5067598"/>
            <a:ext cx="768648" cy="364430"/>
          </a:xfrm>
          <a:prstGeom prst="roundRect">
            <a:avLst>
              <a:gd name="adj" fmla="val 50000"/>
            </a:avLst>
          </a:prstGeom>
          <a:noFill/>
          <a:ln w="6350">
            <a:solidFill>
              <a:srgbClr val="86D5CB">
                <a:alpha val="50000"/>
              </a:srgbClr>
            </a:solidFill>
            <a:prstDash val="solid"/>
          </a:ln>
        </p:spPr>
        <p:txBody>
          <a:bodyPr wrap="none" lIns="0" tIns="0" rIns="0" bIns="0" rtlCol="0" anchor="ctr">
            <a:normAutofit/>
          </a:bodyPr>
          <a:lstStyle/>
          <a:p>
            <a:pPr marL="0" indent="0" algn="ctr">
              <a:lnSpc>
                <a:spcPts val="1820"/>
              </a:lnSpc>
              <a:buNone/>
            </a:pPr>
            <a:r>
              <a:rPr lang="en-US" sz="1300" dirty="0">
                <a:solidFill>
                  <a:srgbClr val="EEF6F4"/>
                </a:solidFill>
                <a:latin typeface="Jost" pitchFamily="34" charset="0"/>
                <a:ea typeface="Jost" pitchFamily="34" charset="-122"/>
                <a:cs typeface="Jost" pitchFamily="34" charset="-120"/>
              </a:rPr>
              <a:t>HTTPS</a:t>
            </a:r>
            <a:endParaRPr lang="en-US" sz="1300" dirty="0"/>
          </a:p>
        </p:txBody>
      </p:sp>
      <p:sp>
        <p:nvSpPr>
          <p:cNvPr id="22" name="Text 17"/>
          <p:cNvSpPr/>
          <p:nvPr/>
        </p:nvSpPr>
        <p:spPr>
          <a:xfrm>
            <a:off x="5508625" y="5067598"/>
            <a:ext cx="2196802" cy="364430"/>
          </a:xfrm>
          <a:prstGeom prst="roundRect">
            <a:avLst>
              <a:gd name="adj" fmla="val 50000"/>
            </a:avLst>
          </a:prstGeom>
          <a:noFill/>
          <a:ln w="6350">
            <a:solidFill>
              <a:srgbClr val="86D5CB">
                <a:alpha val="50000"/>
              </a:srgbClr>
            </a:solidFill>
            <a:prstDash val="solid"/>
          </a:ln>
        </p:spPr>
        <p:txBody>
          <a:bodyPr wrap="none" lIns="0" tIns="0" rIns="0" bIns="0" rtlCol="0" anchor="ctr">
            <a:normAutofit/>
          </a:bodyPr>
          <a:lstStyle/>
          <a:p>
            <a:pPr marL="0" indent="0" algn="ctr">
              <a:lnSpc>
                <a:spcPts val="1820"/>
              </a:lnSpc>
              <a:buNone/>
            </a:pPr>
            <a:r>
              <a:rPr lang="en-US" sz="1300" dirty="0">
                <a:solidFill>
                  <a:srgbClr val="EEF6F4"/>
                </a:solidFill>
                <a:latin typeface="Jost" pitchFamily="34" charset="0"/>
                <a:ea typeface="Jost" pitchFamily="34" charset="-122"/>
                <a:cs typeface="Jost" pitchFamily="34" charset="-120"/>
              </a:rPr>
              <a:t>10 tablas · 13 casos de uso</a:t>
            </a:r>
            <a:endParaRPr lang="en-US" sz="1300" dirty="0"/>
          </a:p>
        </p:txBody>
      </p:sp>
      <p:sp>
        <p:nvSpPr>
          <p:cNvPr id="23"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NexuStock</a:t>
            </a:r>
            <a:endParaRPr lang="en-US" sz="1200" dirty="0"/>
          </a:p>
        </p:txBody>
      </p:sp>
      <p:sp>
        <p:nvSpPr>
          <p:cNvPr id="24" name="Text 1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4 / 10</a:t>
            </a:r>
            <a:endParaRPr lang="en-US" sz="1200" dirty="0"/>
          </a:p>
        </p:txBody>
      </p:sp>
      <p:sp>
        <p:nvSpPr>
          <p:cNvPr id="25" name="Shape 20"/>
          <p:cNvSpPr/>
          <p:nvPr/>
        </p:nvSpPr>
        <p:spPr>
          <a:xfrm>
            <a:off x="10871200" y="355600"/>
            <a:ext cx="508000" cy="508000"/>
          </a:xfrm>
          <a:prstGeom prst="roundRect">
            <a:avLst>
              <a:gd name="adj" fmla="val 50000"/>
            </a:avLst>
          </a:prstGeom>
          <a:solidFill>
            <a:srgbClr val="F4F1E8"/>
          </a:solidFill>
          <a:ln/>
        </p:spPr>
        <p:txBody>
          <a:bodyPr/>
          <a:lstStyle/>
          <a:p>
            <a:endParaRPr lang="es-MX"/>
          </a:p>
        </p:txBody>
      </p:sp>
      <p:pic>
        <p:nvPicPr>
          <p:cNvPr id="26" name="Image 3" descr="Logo NexuStock"/>
          <p:cNvPicPr>
            <a:picLocks noChangeAspect="1"/>
          </p:cNvPicPr>
          <p:nvPr/>
        </p:nvPicPr>
        <p:blipFill>
          <a:blip r:embed="rId5"/>
          <a:srcRect/>
          <a:stretch/>
        </p:blipFill>
        <p:spPr>
          <a:xfrm>
            <a:off x="10871200" y="355600"/>
            <a:ext cx="508000" cy="508000"/>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4FAF8"/>
                </a:solidFill>
                <a:latin typeface="Jost" pitchFamily="34" charset="0"/>
                <a:ea typeface="Jost" pitchFamily="34" charset="-122"/>
                <a:cs typeface="Jost" pitchFamily="34" charset="-120"/>
              </a:rPr>
              <a:t>Motor predictivo</a:t>
            </a:r>
            <a:endParaRPr lang="en-US" sz="4000" dirty="0"/>
          </a:p>
        </p:txBody>
      </p:sp>
      <p:sp>
        <p:nvSpPr>
          <p:cNvPr id="3" name="Text 1"/>
          <p:cNvSpPr/>
          <p:nvPr/>
        </p:nvSpPr>
        <p:spPr>
          <a:xfrm>
            <a:off x="812800" y="142240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86D5CB"/>
                </a:solidFill>
                <a:latin typeface="Jost" pitchFamily="34" charset="0"/>
                <a:ea typeface="Jost" pitchFamily="34" charset="-122"/>
                <a:cs typeface="Jost" pitchFamily="34" charset="-120"/>
              </a:rPr>
              <a:t>Datos reales y un respaldo ante fallas</a:t>
            </a:r>
            <a:endParaRPr lang="en-US" sz="2200" dirty="0"/>
          </a:p>
        </p:txBody>
      </p:sp>
      <p:sp>
        <p:nvSpPr>
          <p:cNvPr id="4" name="Shape 2"/>
          <p:cNvSpPr/>
          <p:nvPr/>
        </p:nvSpPr>
        <p:spPr>
          <a:xfrm>
            <a:off x="812800" y="1960860"/>
            <a:ext cx="6858000" cy="855861"/>
          </a:xfrm>
          <a:prstGeom prst="roundRect">
            <a:avLst>
              <a:gd name="adj" fmla="val 14839"/>
            </a:avLst>
          </a:prstGeom>
          <a:solidFill>
            <a:srgbClr val="86D5CB"/>
          </a:solidFill>
          <a:ln/>
        </p:spPr>
        <p:txBody>
          <a:bodyPr/>
          <a:lstStyle/>
          <a:p>
            <a:endParaRPr lang="es-MX"/>
          </a:p>
        </p:txBody>
      </p:sp>
      <p:sp>
        <p:nvSpPr>
          <p:cNvPr id="5" name="Text 3"/>
          <p:cNvSpPr/>
          <p:nvPr/>
        </p:nvSpPr>
        <p:spPr>
          <a:xfrm>
            <a:off x="1016000" y="2113260"/>
            <a:ext cx="6645148"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0B272C"/>
                </a:solidFill>
                <a:latin typeface="Jost" pitchFamily="34" charset="0"/>
                <a:ea typeface="Jost" pitchFamily="34" charset="-122"/>
                <a:cs typeface="Jost" pitchFamily="34" charset="-120"/>
              </a:rPr>
              <a:t>2022 – 2023</a:t>
            </a:r>
            <a:endParaRPr lang="en-US" sz="1700" dirty="0"/>
          </a:p>
        </p:txBody>
      </p:sp>
      <p:sp>
        <p:nvSpPr>
          <p:cNvPr id="6" name="Text 4"/>
          <p:cNvSpPr/>
          <p:nvPr/>
        </p:nvSpPr>
        <p:spPr>
          <a:xfrm>
            <a:off x="1016000" y="2415480"/>
            <a:ext cx="664514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272C"/>
                </a:solidFill>
                <a:latin typeface="Jost" pitchFamily="34" charset="0"/>
                <a:ea typeface="Jost" pitchFamily="34" charset="-122"/>
                <a:cs typeface="Jost" pitchFamily="34" charset="-120"/>
              </a:rPr>
              <a:t>Entrenamiento</a:t>
            </a:r>
            <a:endParaRPr lang="en-US" sz="1400" dirty="0"/>
          </a:p>
        </p:txBody>
      </p:sp>
      <p:sp>
        <p:nvSpPr>
          <p:cNvPr id="7" name="Shape 5"/>
          <p:cNvSpPr/>
          <p:nvPr/>
        </p:nvSpPr>
        <p:spPr>
          <a:xfrm>
            <a:off x="7747000" y="1960860"/>
            <a:ext cx="3632200" cy="855861"/>
          </a:xfrm>
          <a:prstGeom prst="roundRect">
            <a:avLst>
              <a:gd name="adj" fmla="val 14839"/>
            </a:avLst>
          </a:prstGeom>
          <a:solidFill>
            <a:srgbClr val="E9C75A"/>
          </a:solidFill>
          <a:ln/>
        </p:spPr>
        <p:txBody>
          <a:bodyPr/>
          <a:lstStyle/>
          <a:p>
            <a:endParaRPr lang="es-MX"/>
          </a:p>
        </p:txBody>
      </p:sp>
      <p:sp>
        <p:nvSpPr>
          <p:cNvPr id="8" name="Text 6"/>
          <p:cNvSpPr/>
          <p:nvPr/>
        </p:nvSpPr>
        <p:spPr>
          <a:xfrm>
            <a:off x="7950200" y="2113260"/>
            <a:ext cx="3322574"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2B2306"/>
                </a:solidFill>
                <a:latin typeface="Jost" pitchFamily="34" charset="0"/>
                <a:ea typeface="Jost" pitchFamily="34" charset="-122"/>
                <a:cs typeface="Jost" pitchFamily="34" charset="-120"/>
              </a:rPr>
              <a:t>2024</a:t>
            </a:r>
            <a:endParaRPr lang="en-US" sz="1700" dirty="0"/>
          </a:p>
        </p:txBody>
      </p:sp>
      <p:sp>
        <p:nvSpPr>
          <p:cNvPr id="9" name="Text 7"/>
          <p:cNvSpPr/>
          <p:nvPr/>
        </p:nvSpPr>
        <p:spPr>
          <a:xfrm>
            <a:off x="7950200" y="2415480"/>
            <a:ext cx="332257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B2306"/>
                </a:solidFill>
                <a:latin typeface="Jost" pitchFamily="34" charset="0"/>
                <a:ea typeface="Jost" pitchFamily="34" charset="-122"/>
                <a:cs typeface="Jost" pitchFamily="34" charset="-120"/>
              </a:rPr>
              <a:t>Prueba</a:t>
            </a:r>
            <a:endParaRPr lang="en-US" sz="1400" dirty="0"/>
          </a:p>
        </p:txBody>
      </p:sp>
      <p:sp>
        <p:nvSpPr>
          <p:cNvPr id="10" name="Text 8"/>
          <p:cNvSpPr/>
          <p:nvPr/>
        </p:nvSpPr>
        <p:spPr>
          <a:xfrm>
            <a:off x="812800" y="3019921"/>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6D2"/>
                </a:solidFill>
                <a:latin typeface="Jost" pitchFamily="34" charset="0"/>
                <a:ea typeface="Jost" pitchFamily="34" charset="-122"/>
                <a:cs typeface="Jost" pitchFamily="34" charset="-120"/>
              </a:rPr>
              <a:t>Se usa el historial real de ventas y compras. 2020 y 2021 se descartan por el efecto de la pandemia. Variables: Fiestas Patrias, Semana Santa, feriados largos, quincena, fin de mes y ventas de semanas anteriores.</a:t>
            </a:r>
            <a:endParaRPr lang="en-US" sz="1400" dirty="0"/>
          </a:p>
        </p:txBody>
      </p:sp>
      <p:sp>
        <p:nvSpPr>
          <p:cNvPr id="11" name="Shape 9"/>
          <p:cNvSpPr/>
          <p:nvPr/>
        </p:nvSpPr>
        <p:spPr>
          <a:xfrm>
            <a:off x="815975" y="3723977"/>
            <a:ext cx="3414117" cy="1643261"/>
          </a:xfrm>
          <a:prstGeom prst="roundRect">
            <a:avLst>
              <a:gd name="adj" fmla="val 9081"/>
            </a:avLst>
          </a:prstGeom>
          <a:solidFill>
            <a:srgbClr val="0B272C">
              <a:alpha val="55000"/>
            </a:srgbClr>
          </a:solidFill>
          <a:ln w="6350">
            <a:solidFill>
              <a:srgbClr val="86D5CB">
                <a:alpha val="35000"/>
              </a:srgbClr>
            </a:solidFill>
            <a:prstDash val="solid"/>
          </a:ln>
        </p:spPr>
        <p:txBody>
          <a:bodyPr/>
          <a:lstStyle/>
          <a:p>
            <a:endParaRPr lang="es-MX"/>
          </a:p>
        </p:txBody>
      </p:sp>
      <p:sp>
        <p:nvSpPr>
          <p:cNvPr id="12" name="Text 10"/>
          <p:cNvSpPr/>
          <p:nvPr/>
        </p:nvSpPr>
        <p:spPr>
          <a:xfrm>
            <a:off x="1022350" y="3930352"/>
            <a:ext cx="3091408" cy="47238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86D5CB"/>
                </a:solidFill>
                <a:latin typeface="Jost" pitchFamily="34" charset="0"/>
                <a:ea typeface="Jost" pitchFamily="34" charset="-122"/>
                <a:cs typeface="Jost" pitchFamily="34" charset="-120"/>
              </a:rPr>
              <a:t>MAE</a:t>
            </a:r>
            <a:endParaRPr lang="en-US" sz="3200" dirty="0"/>
          </a:p>
        </p:txBody>
      </p:sp>
      <p:sp>
        <p:nvSpPr>
          <p:cNvPr id="13" name="Text 11"/>
          <p:cNvSpPr/>
          <p:nvPr/>
        </p:nvSpPr>
        <p:spPr>
          <a:xfrm>
            <a:off x="1022350" y="4440833"/>
            <a:ext cx="3091408"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EF6F4"/>
                </a:solidFill>
                <a:latin typeface="Jost" pitchFamily="34" charset="0"/>
                <a:ea typeface="Jost" pitchFamily="34" charset="-122"/>
                <a:cs typeface="Jost" pitchFamily="34" charset="-120"/>
              </a:rPr>
              <a:t>Error medido en kg. Debe superar al promedio simple, también en fechas festivas.</a:t>
            </a:r>
            <a:endParaRPr lang="en-US" sz="1400" dirty="0"/>
          </a:p>
        </p:txBody>
      </p:sp>
      <p:sp>
        <p:nvSpPr>
          <p:cNvPr id="14" name="Shape 12"/>
          <p:cNvSpPr/>
          <p:nvPr/>
        </p:nvSpPr>
        <p:spPr>
          <a:xfrm>
            <a:off x="4388842" y="3723977"/>
            <a:ext cx="3414216" cy="1643261"/>
          </a:xfrm>
          <a:prstGeom prst="roundRect">
            <a:avLst>
              <a:gd name="adj" fmla="val 9081"/>
            </a:avLst>
          </a:prstGeom>
          <a:solidFill>
            <a:srgbClr val="0B272C">
              <a:alpha val="55000"/>
            </a:srgbClr>
          </a:solidFill>
          <a:ln w="6350">
            <a:solidFill>
              <a:srgbClr val="86D5CB">
                <a:alpha val="35000"/>
              </a:srgbClr>
            </a:solidFill>
            <a:prstDash val="solid"/>
          </a:ln>
        </p:spPr>
        <p:txBody>
          <a:bodyPr/>
          <a:lstStyle/>
          <a:p>
            <a:endParaRPr lang="es-MX"/>
          </a:p>
        </p:txBody>
      </p:sp>
      <p:sp>
        <p:nvSpPr>
          <p:cNvPr id="15" name="Text 13"/>
          <p:cNvSpPr/>
          <p:nvPr/>
        </p:nvSpPr>
        <p:spPr>
          <a:xfrm>
            <a:off x="4595217" y="3930352"/>
            <a:ext cx="3091510" cy="47238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86D5CB"/>
                </a:solidFill>
                <a:latin typeface="Jost" pitchFamily="34" charset="0"/>
                <a:ea typeface="Jost" pitchFamily="34" charset="-122"/>
                <a:cs typeface="Jost" pitchFamily="34" charset="-120"/>
              </a:rPr>
              <a:t>2,0 s</a:t>
            </a:r>
            <a:endParaRPr lang="en-US" sz="3200" dirty="0"/>
          </a:p>
        </p:txBody>
      </p:sp>
      <p:sp>
        <p:nvSpPr>
          <p:cNvPr id="16" name="Text 14"/>
          <p:cNvSpPr/>
          <p:nvPr/>
        </p:nvSpPr>
        <p:spPr>
          <a:xfrm>
            <a:off x="4595217" y="4440833"/>
            <a:ext cx="3091510"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EF6F4"/>
                </a:solidFill>
                <a:latin typeface="Jost" pitchFamily="34" charset="0"/>
                <a:ea typeface="Jost" pitchFamily="34" charset="-122"/>
                <a:cs typeface="Jost" pitchFamily="34" charset="-120"/>
              </a:rPr>
              <a:t>Tiempo máximo de respuesta del motor. Si se supera, se activa el respaldo.</a:t>
            </a:r>
            <a:endParaRPr lang="en-US" sz="1400" dirty="0"/>
          </a:p>
        </p:txBody>
      </p:sp>
      <p:sp>
        <p:nvSpPr>
          <p:cNvPr id="17" name="Shape 15"/>
          <p:cNvSpPr/>
          <p:nvPr/>
        </p:nvSpPr>
        <p:spPr>
          <a:xfrm>
            <a:off x="7961809" y="3723977"/>
            <a:ext cx="3414216" cy="1643261"/>
          </a:xfrm>
          <a:prstGeom prst="roundRect">
            <a:avLst>
              <a:gd name="adj" fmla="val 9081"/>
            </a:avLst>
          </a:prstGeom>
          <a:solidFill>
            <a:srgbClr val="0B272C">
              <a:alpha val="55000"/>
            </a:srgbClr>
          </a:solidFill>
          <a:ln w="6350">
            <a:solidFill>
              <a:srgbClr val="86D5CB">
                <a:alpha val="35000"/>
              </a:srgbClr>
            </a:solidFill>
            <a:prstDash val="solid"/>
          </a:ln>
        </p:spPr>
        <p:txBody>
          <a:bodyPr/>
          <a:lstStyle/>
          <a:p>
            <a:endParaRPr lang="es-MX"/>
          </a:p>
        </p:txBody>
      </p:sp>
      <p:sp>
        <p:nvSpPr>
          <p:cNvPr id="18" name="Text 16"/>
          <p:cNvSpPr/>
          <p:nvPr/>
        </p:nvSpPr>
        <p:spPr>
          <a:xfrm>
            <a:off x="8168184" y="3930352"/>
            <a:ext cx="3091510" cy="47238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86D5CB"/>
                </a:solidFill>
                <a:latin typeface="Jost" pitchFamily="34" charset="0"/>
                <a:ea typeface="Jost" pitchFamily="34" charset="-122"/>
                <a:cs typeface="Jost" pitchFamily="34" charset="-120"/>
              </a:rPr>
              <a:t>Respaldo</a:t>
            </a:r>
            <a:endParaRPr lang="en-US" sz="3200" dirty="0"/>
          </a:p>
        </p:txBody>
      </p:sp>
      <p:sp>
        <p:nvSpPr>
          <p:cNvPr id="19" name="Text 17"/>
          <p:cNvSpPr/>
          <p:nvPr/>
        </p:nvSpPr>
        <p:spPr>
          <a:xfrm>
            <a:off x="8168184" y="4440833"/>
            <a:ext cx="309151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EF6F4"/>
                </a:solidFill>
                <a:latin typeface="Jost" pitchFamily="34" charset="0"/>
                <a:ea typeface="Jost" pitchFamily="34" charset="-122"/>
                <a:cs typeface="Jost" pitchFamily="34" charset="-120"/>
              </a:rPr>
              <a:t>Promedio histórico del producto o de su categoría, sin detener la operación.</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NexuStock</a:t>
            </a:r>
            <a:endParaRPr lang="en-US" sz="1200" dirty="0"/>
          </a:p>
        </p:txBody>
      </p:sp>
      <p:sp>
        <p:nvSpPr>
          <p:cNvPr id="21" name="Text 1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5 / 10</a:t>
            </a:r>
            <a:endParaRPr lang="en-US" sz="1200" dirty="0"/>
          </a:p>
        </p:txBody>
      </p:sp>
      <p:sp>
        <p:nvSpPr>
          <p:cNvPr id="22" name="Shape 20"/>
          <p:cNvSpPr/>
          <p:nvPr/>
        </p:nvSpPr>
        <p:spPr>
          <a:xfrm>
            <a:off x="10871200" y="355600"/>
            <a:ext cx="508000" cy="508000"/>
          </a:xfrm>
          <a:prstGeom prst="roundRect">
            <a:avLst>
              <a:gd name="adj" fmla="val 50000"/>
            </a:avLst>
          </a:prstGeom>
          <a:solidFill>
            <a:srgbClr val="F4F1E8"/>
          </a:solidFill>
          <a:ln/>
        </p:spPr>
        <p:txBody>
          <a:bodyPr/>
          <a:lstStyle/>
          <a:p>
            <a:endParaRPr lang="es-MX"/>
          </a:p>
        </p:txBody>
      </p:sp>
      <p:pic>
        <p:nvPicPr>
          <p:cNvPr id="23" name="Image 0" descr="Logo NexuStock"/>
          <p:cNvPicPr>
            <a:picLocks noChangeAspect="1"/>
          </p:cNvPicPr>
          <p:nvPr/>
        </p:nvPicPr>
        <p:blipFill>
          <a:blip r:embed="rId3"/>
          <a:srcRect/>
          <a:stretch/>
        </p:blipFill>
        <p:spPr>
          <a:xfrm>
            <a:off x="10871200" y="355600"/>
            <a:ext cx="508000" cy="508000"/>
          </a:xfrm>
          <a:prstGeom prst="ellipse">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4FAF8"/>
                </a:solidFill>
                <a:latin typeface="Jost" pitchFamily="34" charset="0"/>
                <a:ea typeface="Jost" pitchFamily="34" charset="-122"/>
                <a:cs typeface="Jost" pitchFamily="34" charset="-120"/>
              </a:rPr>
              <a:t>Vínculo con el perfil de egreso</a:t>
            </a:r>
            <a:endParaRPr lang="en-US" sz="4000" dirty="0"/>
          </a:p>
        </p:txBody>
      </p:sp>
      <p:sp>
        <p:nvSpPr>
          <p:cNvPr id="90" name="Subtitulo"/>
          <p:cNvSpPr/>
          <p:nvPr/>
        </p:nvSpPr>
        <p:spPr>
          <a:xfrm>
            <a:off x="812800" y="142240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86D5CB"/>
                </a:solidFill>
                <a:latin typeface="Jost" pitchFamily="34" charset="0"/>
                <a:ea typeface="Jost" pitchFamily="34" charset="-122"/>
                <a:cs typeface="Jost" pitchFamily="34" charset="-120"/>
              </a:rPr>
              <a:t>Cada competencia, con su evidencia en el proyecto</a:t>
            </a:r>
            <a:endParaRPr lang="en-US" sz="2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960000"/>
          <a:ext cx="10553700" cy="3858000"/>
        </p:xfrm>
        <a:graphic>
          <a:graphicData uri="http://schemas.openxmlformats.org/drawingml/2006/table">
            <a:tbl>
              <a:tblPr/>
              <a:tblGrid>
                <a:gridCol w="3799332">
                  <a:extLst>
                    <a:ext uri="{9D8B030D-6E8A-4147-A177-3AD203B41FA5}">
                      <a16:colId xmlns:a16="http://schemas.microsoft.com/office/drawing/2014/main" val="20000"/>
                    </a:ext>
                  </a:extLst>
                </a:gridCol>
                <a:gridCol w="6754368">
                  <a:extLst>
                    <a:ext uri="{9D8B030D-6E8A-4147-A177-3AD203B41FA5}">
                      <a16:colId xmlns:a16="http://schemas.microsoft.com/office/drawing/2014/main" val="20001"/>
                    </a:ext>
                  </a:extLst>
                </a:gridCol>
              </a:tblGrid>
              <a:tr h="643000">
                <a:tc>
                  <a:txBody>
                    <a:bodyPr/>
                    <a:lstStyle/>
                    <a:p>
                      <a:pPr marL="0" indent="0">
                        <a:lnSpc>
                          <a:spcPts val="1820"/>
                        </a:lnSpc>
                        <a:buNone/>
                      </a:pPr>
                      <a:r>
                        <a:rPr lang="en-US" sz="1300" b="1" dirty="0">
                          <a:solidFill>
                            <a:srgbClr val="EEF6F4"/>
                          </a:solidFill>
                          <a:latin typeface="Jost" pitchFamily="34" charset="0"/>
                          <a:ea typeface="Jost" pitchFamily="34" charset="-122"/>
                          <a:cs typeface="Jost" pitchFamily="34" charset="-120"/>
                        </a:rPr>
                        <a:t>Competencia del perfil</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5F8D8B"/>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5F8D8B"/>
                      </a:solidFill>
                      <a:prstDash val="solid"/>
                      <a:round/>
                      <a:headEnd type="none" w="med" len="med"/>
                      <a:tailEnd type="none" w="med" len="med"/>
                    </a:lnB>
                    <a:solidFill>
                      <a:srgbClr val="336F6D"/>
                    </a:solidFill>
                  </a:tcPr>
                </a:tc>
                <a:tc>
                  <a:txBody>
                    <a:bodyPr/>
                    <a:lstStyle/>
                    <a:p>
                      <a:pPr marL="0" indent="0">
                        <a:lnSpc>
                          <a:spcPts val="1820"/>
                        </a:lnSpc>
                        <a:buNone/>
                      </a:pPr>
                      <a:r>
                        <a:rPr lang="en-US" sz="1300" b="1" dirty="0">
                          <a:solidFill>
                            <a:srgbClr val="EEF6F4"/>
                          </a:solidFill>
                          <a:latin typeface="Jost" pitchFamily="34" charset="0"/>
                          <a:ea typeface="Jost" pitchFamily="34" charset="-122"/>
                          <a:cs typeface="Jost" pitchFamily="34" charset="-120"/>
                        </a:rPr>
                        <a:t>Evidencia en NexuStock</a:t>
                      </a:r>
                      <a:endParaRPr lang="en-US" sz="1300" dirty="0">
                        <a:latin typeface="Jost" charset="0"/>
                        <a:ea typeface="Jost" charset="0"/>
                        <a:cs typeface="Jost" charset="0"/>
                      </a:endParaRPr>
                    </a:p>
                  </a:txBody>
                  <a:tcPr marL="114300" marR="114300" marT="57785" marB="57785" anchor="ctr">
                    <a:lnL w="12700" cap="flat" cmpd="sng" algn="ctr">
                      <a:solidFill>
                        <a:srgbClr val="5F8D8B"/>
                      </a:solidFill>
                      <a:prstDash val="solid"/>
                      <a:round/>
                      <a:headEnd type="none" w="med" len="med"/>
                      <a:tailEnd type="none" w="med" len="med"/>
                    </a:lnL>
                    <a:lnR w="12700" cap="flat" cmpd="sng" algn="ctr">
                      <a:solidFill>
                        <a:srgbClr val="5F8D8B"/>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5F8D8B"/>
                      </a:solidFill>
                      <a:prstDash val="solid"/>
                      <a:round/>
                      <a:headEnd type="none" w="med" len="med"/>
                      <a:tailEnd type="none" w="med" len="med"/>
                    </a:lnB>
                    <a:solidFill>
                      <a:srgbClr val="336F6D"/>
                    </a:solidFill>
                  </a:tcPr>
                </a:tc>
                <a:extLst>
                  <a:ext uri="{0D108BD9-81ED-4DB2-BD59-A6C34878D82A}">
                    <a16:rowId xmlns:a16="http://schemas.microsoft.com/office/drawing/2014/main" val="10000"/>
                  </a:ext>
                </a:extLst>
              </a:tr>
              <a:tr h="643000">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Ingeniería de requisitos</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5F8D8B"/>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Documento 01 bajo IEEE 830: 13 requisitos funcionales y 25 no funcionales.</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5F8D8B"/>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extLst>
                  <a:ext uri="{0D108BD9-81ED-4DB2-BD59-A6C34878D82A}">
                    <a16:rowId xmlns:a16="http://schemas.microsoft.com/office/drawing/2014/main" val="10001"/>
                  </a:ext>
                </a:extLst>
              </a:tr>
              <a:tr h="643000">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Bases de datos relacionales</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Modelo E-R v4 con 10 tablas en PostgreSQL y reglas de integridad.</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extLst>
                  <a:ext uri="{0D108BD9-81ED-4DB2-BD59-A6C34878D82A}">
                    <a16:rowId xmlns:a16="http://schemas.microsoft.com/office/drawing/2014/main" val="10002"/>
                  </a:ext>
                </a:extLst>
              </a:tr>
              <a:tr h="643000">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Software de calidad y ciclo de vida</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Diseño UML, pruebas automatizadas y ramas por integrante con Pull Request.</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extLst>
                  <a:ext uri="{0D108BD9-81ED-4DB2-BD59-A6C34878D82A}">
                    <a16:rowId xmlns:a16="http://schemas.microsoft.com/office/drawing/2014/main" val="10003"/>
                  </a:ext>
                </a:extLst>
              </a:tr>
              <a:tr h="643000">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Calidad, seguridad y sostenibilidad</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Bcrypt, JWT, roles y HTTPS; menos merma de producto perecible.</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extLst>
                  <a:ext uri="{0D108BD9-81ED-4DB2-BD59-A6C34878D82A}">
                    <a16:rowId xmlns:a16="http://schemas.microsoft.com/office/drawing/2014/main" val="10004"/>
                  </a:ext>
                </a:extLst>
              </a:tr>
              <a:tr h="643000">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Gestión de proyectos y despliegue</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tc>
                  <a:txBody>
                    <a:bodyPr/>
                    <a:lstStyle/>
                    <a:p>
                      <a:pPr marL="0" indent="0">
                        <a:lnSpc>
                          <a:spcPts val="1820"/>
                        </a:lnSpc>
                        <a:buNone/>
                      </a:pPr>
                      <a:r>
                        <a:rPr lang="en-US" sz="1300" dirty="0">
                          <a:solidFill>
                            <a:srgbClr val="EEF6F4"/>
                          </a:solidFill>
                          <a:latin typeface="Jost" pitchFamily="34" charset="0"/>
                          <a:ea typeface="Jost" pitchFamily="34" charset="-122"/>
                          <a:cs typeface="Jost" pitchFamily="34" charset="-120"/>
                        </a:rPr>
                        <a:t>Plan en cascada, documentos versionados, Docker y evaluación VAN, TIR y ROI.</a:t>
                      </a:r>
                      <a:endParaRPr lang="en-US" sz="1300" dirty="0">
                        <a:latin typeface="Jost" charset="0"/>
                        <a:ea typeface="Jost" charset="0"/>
                        <a:cs typeface="Jost" charset="0"/>
                      </a:endParaRPr>
                    </a:p>
                  </a:txBody>
                  <a:tcPr marL="114300" marR="114300" marT="57785" marB="57785" anchor="ctr">
                    <a:lnL w="12700" cap="flat" cmpd="sng" algn="ctr">
                      <a:solidFill>
                        <a:srgbClr val="4E7A79"/>
                      </a:solidFill>
                      <a:prstDash val="solid"/>
                      <a:round/>
                      <a:headEnd type="none" w="med" len="med"/>
                      <a:tailEnd type="none" w="med" len="med"/>
                    </a:lnL>
                    <a:lnR w="12700" cap="flat" cmpd="sng" algn="ctr">
                      <a:solidFill>
                        <a:srgbClr val="4E7A79"/>
                      </a:solidFill>
                      <a:prstDash val="solid"/>
                      <a:round/>
                      <a:headEnd type="none" w="med" len="med"/>
                      <a:tailEnd type="none" w="med" len="med"/>
                    </a:lnR>
                    <a:lnT w="12700" cap="flat" cmpd="sng" algn="ctr">
                      <a:solidFill>
                        <a:srgbClr val="4E7A79"/>
                      </a:solidFill>
                      <a:prstDash val="solid"/>
                      <a:round/>
                      <a:headEnd type="none" w="med" len="med"/>
                      <a:tailEnd type="none" w="med" len="med"/>
                    </a:lnT>
                    <a:lnB w="12700" cap="flat" cmpd="sng" algn="ctr">
                      <a:solidFill>
                        <a:srgbClr val="4E7A7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NexuStock</a:t>
            </a:r>
            <a:endParaRPr lang="en-US" sz="1200" dirty="0"/>
          </a:p>
        </p:txBody>
      </p:sp>
      <p:sp>
        <p:nvSpPr>
          <p:cNvPr id="5" name="Text 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6 / 10</a:t>
            </a:r>
            <a:endParaRPr lang="en-US" sz="1200" dirty="0"/>
          </a:p>
        </p:txBody>
      </p:sp>
      <p:sp>
        <p:nvSpPr>
          <p:cNvPr id="6" name="Shape 3"/>
          <p:cNvSpPr/>
          <p:nvPr/>
        </p:nvSpPr>
        <p:spPr>
          <a:xfrm>
            <a:off x="10871200" y="355600"/>
            <a:ext cx="508000" cy="508000"/>
          </a:xfrm>
          <a:prstGeom prst="roundRect">
            <a:avLst>
              <a:gd name="adj" fmla="val 50000"/>
            </a:avLst>
          </a:prstGeom>
          <a:solidFill>
            <a:srgbClr val="F4F1E8"/>
          </a:solidFill>
          <a:ln/>
        </p:spPr>
        <p:txBody>
          <a:bodyPr/>
          <a:lstStyle/>
          <a:p>
            <a:endParaRPr lang="es-MX"/>
          </a:p>
        </p:txBody>
      </p:sp>
      <p:pic>
        <p:nvPicPr>
          <p:cNvPr id="7" name="Image 0" descr="Logo NexuStock"/>
          <p:cNvPicPr>
            <a:picLocks noChangeAspect="1"/>
          </p:cNvPicPr>
          <p:nvPr/>
        </p:nvPicPr>
        <p:blipFill>
          <a:blip r:embed="rId3"/>
          <a:srcRect/>
          <a:stretch/>
        </p:blipFill>
        <p:spPr>
          <a:xfrm>
            <a:off x="10871200" y="355600"/>
            <a:ext cx="508000" cy="508000"/>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4FAF8"/>
                </a:solidFill>
                <a:latin typeface="Jost" pitchFamily="34" charset="0"/>
                <a:ea typeface="Jost" pitchFamily="34" charset="-122"/>
                <a:cs typeface="Jost" pitchFamily="34" charset="-120"/>
              </a:rPr>
              <a:t>Desarrollo profesional</a:t>
            </a:r>
            <a:endParaRPr lang="en-US" sz="4000" dirty="0"/>
          </a:p>
        </p:txBody>
      </p:sp>
      <p:sp>
        <p:nvSpPr>
          <p:cNvPr id="3" name="Text 1"/>
          <p:cNvSpPr/>
          <p:nvPr/>
        </p:nvSpPr>
        <p:spPr>
          <a:xfrm>
            <a:off x="812800" y="142240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86D5CB"/>
                </a:solidFill>
                <a:latin typeface="Jost" pitchFamily="34" charset="0"/>
                <a:ea typeface="Jost" pitchFamily="34" charset="-122"/>
                <a:cs typeface="Jost" pitchFamily="34" charset="-120"/>
              </a:rPr>
              <a:t>Cómo el proyecto aporta a cada uno</a:t>
            </a:r>
            <a:endParaRPr lang="en-US" sz="2200" dirty="0"/>
          </a:p>
        </p:txBody>
      </p:sp>
      <p:sp>
        <p:nvSpPr>
          <p:cNvPr id="4" name="Shape 2"/>
          <p:cNvSpPr/>
          <p:nvPr/>
        </p:nvSpPr>
        <p:spPr>
          <a:xfrm>
            <a:off x="815975" y="1989435"/>
            <a:ext cx="5175250" cy="3195935"/>
          </a:xfrm>
          <a:prstGeom prst="roundRect">
            <a:avLst>
              <a:gd name="adj" fmla="val 4669"/>
            </a:avLst>
          </a:prstGeom>
          <a:solidFill>
            <a:srgbClr val="0B272C">
              <a:alpha val="55000"/>
            </a:srgbClr>
          </a:solidFill>
          <a:ln w="6350">
            <a:solidFill>
              <a:srgbClr val="86D5CB">
                <a:alpha val="35000"/>
              </a:srgbClr>
            </a:solidFill>
            <a:prstDash val="solid"/>
          </a:ln>
        </p:spPr>
        <p:txBody>
          <a:bodyPr/>
          <a:lstStyle/>
          <a:p>
            <a:endParaRPr lang="es-MX"/>
          </a:p>
        </p:txBody>
      </p:sp>
      <p:sp>
        <p:nvSpPr>
          <p:cNvPr id="5" name="Text 3"/>
          <p:cNvSpPr/>
          <p:nvPr/>
        </p:nvSpPr>
        <p:spPr>
          <a:xfrm>
            <a:off x="1073150" y="2246610"/>
            <a:ext cx="4800727"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4FAF8"/>
                </a:solidFill>
                <a:latin typeface="Jost" pitchFamily="34" charset="0"/>
                <a:ea typeface="Jost" pitchFamily="34" charset="-122"/>
                <a:cs typeface="Jost" pitchFamily="34" charset="-120"/>
              </a:rPr>
              <a:t>Ignacio Mella</a:t>
            </a:r>
            <a:endParaRPr lang="en-US" sz="2200" dirty="0"/>
          </a:p>
        </p:txBody>
      </p:sp>
      <p:sp>
        <p:nvSpPr>
          <p:cNvPr id="6" name="Text 4"/>
          <p:cNvSpPr/>
          <p:nvPr/>
        </p:nvSpPr>
        <p:spPr>
          <a:xfrm>
            <a:off x="1073150" y="2670770"/>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6D5CB"/>
                </a:solidFill>
                <a:latin typeface="Jost" pitchFamily="34" charset="0"/>
                <a:ea typeface="Jost" pitchFamily="34" charset="-122"/>
                <a:cs typeface="Jost" pitchFamily="34" charset="-120"/>
              </a:rPr>
              <a:t>Software Engineer</a:t>
            </a:r>
            <a:endParaRPr lang="en-US" sz="1400" dirty="0"/>
          </a:p>
        </p:txBody>
      </p:sp>
      <p:sp>
        <p:nvSpPr>
          <p:cNvPr id="7" name="Text 5"/>
          <p:cNvSpPr/>
          <p:nvPr/>
        </p:nvSpPr>
        <p:spPr>
          <a:xfrm>
            <a:off x="1073150" y="3008511"/>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EF6F4"/>
                </a:solidFill>
                <a:latin typeface="Jost" pitchFamily="34" charset="0"/>
                <a:ea typeface="Jost" pitchFamily="34" charset="-122"/>
                <a:cs typeface="Jost" pitchFamily="34" charset="-120"/>
              </a:rPr>
              <a:t>Aporte: arquitectura, base de datos, backend, frontend y despliegue.</a:t>
            </a:r>
            <a:endParaRPr lang="en-US" sz="1400" dirty="0"/>
          </a:p>
        </p:txBody>
      </p:sp>
      <p:sp>
        <p:nvSpPr>
          <p:cNvPr id="8" name="Text 6"/>
          <p:cNvSpPr/>
          <p:nvPr/>
        </p:nvSpPr>
        <p:spPr>
          <a:xfrm>
            <a:off x="1073150" y="3595092"/>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6D2"/>
                </a:solidFill>
                <a:latin typeface="Jost" pitchFamily="34" charset="0"/>
                <a:ea typeface="Jost" pitchFamily="34" charset="-122"/>
                <a:cs typeface="Jost" pitchFamily="34" charset="-120"/>
              </a:rPr>
              <a:t>Interés: la arquitectura de software y las bases de datos robustas.</a:t>
            </a:r>
            <a:endParaRPr lang="en-US" sz="1400" dirty="0"/>
          </a:p>
        </p:txBody>
      </p:sp>
      <p:sp>
        <p:nvSpPr>
          <p:cNvPr id="9" name="Text 7"/>
          <p:cNvSpPr/>
          <p:nvPr/>
        </p:nvSpPr>
        <p:spPr>
          <a:xfrm>
            <a:off x="1073150" y="4181673"/>
            <a:ext cx="4800727"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6D2"/>
                </a:solidFill>
                <a:latin typeface="Jost" pitchFamily="34" charset="0"/>
                <a:ea typeface="Jost" pitchFamily="34" charset="-122"/>
                <a:cs typeface="Jost" pitchFamily="34" charset="-120"/>
              </a:rPr>
              <a:t>Diseño la base de datos relacional, el backend y las APIs que sostienen todo el sistema, incluyendo la integración con el motor de Machine Learning de Manuel.</a:t>
            </a:r>
            <a:endParaRPr lang="en-US" sz="1400" dirty="0"/>
          </a:p>
        </p:txBody>
      </p:sp>
      <p:sp>
        <p:nvSpPr>
          <p:cNvPr id="10" name="Shape 8"/>
          <p:cNvSpPr/>
          <p:nvPr/>
        </p:nvSpPr>
        <p:spPr>
          <a:xfrm>
            <a:off x="6200775" y="1989349"/>
            <a:ext cx="5175250" cy="3195935"/>
          </a:xfrm>
          <a:prstGeom prst="roundRect">
            <a:avLst>
              <a:gd name="adj" fmla="val 4669"/>
            </a:avLst>
          </a:prstGeom>
          <a:solidFill>
            <a:srgbClr val="0B272C">
              <a:alpha val="55000"/>
            </a:srgbClr>
          </a:solidFill>
          <a:ln w="6350">
            <a:solidFill>
              <a:srgbClr val="86D5CB">
                <a:alpha val="35000"/>
              </a:srgbClr>
            </a:solidFill>
            <a:prstDash val="solid"/>
          </a:ln>
        </p:spPr>
        <p:txBody>
          <a:bodyPr/>
          <a:lstStyle/>
          <a:p>
            <a:endParaRPr lang="es-MX"/>
          </a:p>
        </p:txBody>
      </p:sp>
      <p:sp>
        <p:nvSpPr>
          <p:cNvPr id="11" name="Text 9"/>
          <p:cNvSpPr/>
          <p:nvPr/>
        </p:nvSpPr>
        <p:spPr>
          <a:xfrm>
            <a:off x="6457950" y="2246610"/>
            <a:ext cx="4800727"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4FAF8"/>
                </a:solidFill>
                <a:latin typeface="Jost" pitchFamily="34" charset="0"/>
                <a:ea typeface="Jost" pitchFamily="34" charset="-122"/>
                <a:cs typeface="Jost" pitchFamily="34" charset="-120"/>
              </a:rPr>
              <a:t>Manuel Bustamante</a:t>
            </a:r>
            <a:endParaRPr lang="en-US" sz="2200" dirty="0"/>
          </a:p>
        </p:txBody>
      </p:sp>
      <p:sp>
        <p:nvSpPr>
          <p:cNvPr id="12" name="Text 10"/>
          <p:cNvSpPr/>
          <p:nvPr/>
        </p:nvSpPr>
        <p:spPr>
          <a:xfrm>
            <a:off x="6457948" y="2670770"/>
            <a:ext cx="480072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6D5CB"/>
                </a:solidFill>
                <a:latin typeface="Jost" pitchFamily="34" charset="0"/>
                <a:ea typeface="Jost" pitchFamily="34" charset="-122"/>
                <a:cs typeface="Jost" pitchFamily="34" charset="-120"/>
              </a:rPr>
              <a:t>Data Scientist</a:t>
            </a:r>
            <a:endParaRPr lang="en-US" sz="1400" dirty="0"/>
          </a:p>
        </p:txBody>
      </p:sp>
      <p:sp>
        <p:nvSpPr>
          <p:cNvPr id="13" name="Text 11"/>
          <p:cNvSpPr/>
          <p:nvPr/>
        </p:nvSpPr>
        <p:spPr>
          <a:xfrm>
            <a:off x="6457947" y="2981566"/>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EF6F4"/>
                </a:solidFill>
                <a:latin typeface="Jost" pitchFamily="34" charset="0"/>
                <a:ea typeface="Jost" pitchFamily="34" charset="-122"/>
                <a:cs typeface="Jost" pitchFamily="34" charset="-120"/>
              </a:rPr>
              <a:t>Aporte: </a:t>
            </a:r>
            <a:r>
              <a:rPr lang="en-US" sz="1400" dirty="0" err="1">
                <a:solidFill>
                  <a:srgbClr val="EEF6F4"/>
                </a:solidFill>
                <a:latin typeface="Jost" pitchFamily="34" charset="0"/>
                <a:ea typeface="Jost" pitchFamily="34" charset="-122"/>
                <a:cs typeface="Jost" pitchFamily="34" charset="-120"/>
              </a:rPr>
              <a:t>Gestión</a:t>
            </a:r>
            <a:r>
              <a:rPr lang="en-US" sz="1400" dirty="0">
                <a:solidFill>
                  <a:srgbClr val="EEF6F4"/>
                </a:solidFill>
                <a:latin typeface="Jost" pitchFamily="34" charset="0"/>
                <a:ea typeface="Jost" pitchFamily="34" charset="-122"/>
                <a:cs typeface="Jost" pitchFamily="34" charset="-120"/>
              </a:rPr>
              <a:t>, </a:t>
            </a:r>
            <a:r>
              <a:rPr lang="en-US" sz="1400" dirty="0" err="1">
                <a:solidFill>
                  <a:srgbClr val="EEF6F4"/>
                </a:solidFill>
                <a:latin typeface="Jost" pitchFamily="34" charset="0"/>
                <a:ea typeface="Jost" pitchFamily="34" charset="-122"/>
                <a:cs typeface="Jost" pitchFamily="34" charset="-120"/>
              </a:rPr>
              <a:t>tratamiento</a:t>
            </a:r>
            <a:r>
              <a:rPr lang="en-US" sz="1400" dirty="0">
                <a:solidFill>
                  <a:srgbClr val="EEF6F4"/>
                </a:solidFill>
                <a:latin typeface="Jost" pitchFamily="34" charset="0"/>
                <a:ea typeface="Jost" pitchFamily="34" charset="-122"/>
                <a:cs typeface="Jost" pitchFamily="34" charset="-120"/>
              </a:rPr>
              <a:t> de </a:t>
            </a:r>
            <a:r>
              <a:rPr lang="en-US" sz="1400" dirty="0" err="1">
                <a:solidFill>
                  <a:srgbClr val="EEF6F4"/>
                </a:solidFill>
                <a:latin typeface="Jost" pitchFamily="34" charset="0"/>
                <a:ea typeface="Jost" pitchFamily="34" charset="-122"/>
                <a:cs typeface="Jost" pitchFamily="34" charset="-120"/>
              </a:rPr>
              <a:t>datos</a:t>
            </a:r>
            <a:r>
              <a:rPr lang="en-US" sz="1400" dirty="0">
                <a:solidFill>
                  <a:srgbClr val="EEF6F4"/>
                </a:solidFill>
                <a:latin typeface="Jost" pitchFamily="34" charset="0"/>
                <a:ea typeface="Jost" pitchFamily="34" charset="-122"/>
                <a:cs typeface="Jost" pitchFamily="34" charset="-120"/>
              </a:rPr>
              <a:t>, modelo de predicción y </a:t>
            </a:r>
          </a:p>
          <a:p>
            <a:pPr marL="0" indent="0" algn="l">
              <a:lnSpc>
                <a:spcPts val="1960"/>
              </a:lnSpc>
              <a:buNone/>
            </a:pPr>
            <a:r>
              <a:rPr lang="en-US" sz="1400" dirty="0" err="1">
                <a:solidFill>
                  <a:srgbClr val="EEF6F4"/>
                </a:solidFill>
                <a:latin typeface="Jost" pitchFamily="34" charset="0"/>
                <a:ea typeface="Jost" pitchFamily="34" charset="-122"/>
                <a:cs typeface="Jost" pitchFamily="34" charset="-120"/>
              </a:rPr>
              <a:t>métrica</a:t>
            </a:r>
            <a:r>
              <a:rPr lang="en-US" sz="1400" dirty="0">
                <a:solidFill>
                  <a:srgbClr val="EEF6F4"/>
                </a:solidFill>
                <a:latin typeface="Jost" pitchFamily="34" charset="0"/>
                <a:ea typeface="Jost" pitchFamily="34" charset="-122"/>
                <a:cs typeface="Jost" pitchFamily="34" charset="-120"/>
              </a:rPr>
              <a:t> MAE.</a:t>
            </a:r>
            <a:endParaRPr lang="en-US" sz="1400" dirty="0"/>
          </a:p>
        </p:txBody>
      </p:sp>
      <p:sp>
        <p:nvSpPr>
          <p:cNvPr id="14" name="Text 12"/>
          <p:cNvSpPr/>
          <p:nvPr/>
        </p:nvSpPr>
        <p:spPr>
          <a:xfrm>
            <a:off x="6457950" y="3607792"/>
            <a:ext cx="4800727"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6D2"/>
                </a:solidFill>
                <a:latin typeface="Jost" pitchFamily="34" charset="0"/>
                <a:ea typeface="Jost" pitchFamily="34" charset="-122"/>
                <a:cs typeface="Jost" pitchFamily="34" charset="-120"/>
              </a:rPr>
              <a:t>Interés: el análisis de datos aplicado a problemas reales de negocio.</a:t>
            </a:r>
            <a:endParaRPr lang="en-US" sz="1400" dirty="0"/>
          </a:p>
        </p:txBody>
      </p:sp>
      <p:sp>
        <p:nvSpPr>
          <p:cNvPr id="15" name="Text 13"/>
          <p:cNvSpPr/>
          <p:nvPr/>
        </p:nvSpPr>
        <p:spPr>
          <a:xfrm>
            <a:off x="6457950" y="4187327"/>
            <a:ext cx="4800727"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CD6D2"/>
                </a:solidFill>
                <a:latin typeface="Jost" pitchFamily="34" charset="0"/>
                <a:ea typeface="Jost" pitchFamily="34" charset="-122"/>
                <a:cs typeface="Jost" pitchFamily="34" charset="-120"/>
              </a:rPr>
              <a:t>Preparo y analizo los datos históricos, entreno los modelos predictivos de demanda y desarrollo el dashboard que traduce esos resultados en decisiones concretas.</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NexuStock</a:t>
            </a:r>
            <a:endParaRPr lang="en-US" sz="12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7 / 10</a:t>
            </a:r>
            <a:endParaRPr lang="en-US" sz="1200" dirty="0"/>
          </a:p>
        </p:txBody>
      </p:sp>
      <p:sp>
        <p:nvSpPr>
          <p:cNvPr id="18" name="Shape 16"/>
          <p:cNvSpPr/>
          <p:nvPr/>
        </p:nvSpPr>
        <p:spPr>
          <a:xfrm>
            <a:off x="10871200" y="355600"/>
            <a:ext cx="508000" cy="508000"/>
          </a:xfrm>
          <a:prstGeom prst="roundRect">
            <a:avLst>
              <a:gd name="adj" fmla="val 50000"/>
            </a:avLst>
          </a:prstGeom>
          <a:solidFill>
            <a:srgbClr val="F4F1E8"/>
          </a:solidFill>
          <a:ln/>
        </p:spPr>
        <p:txBody>
          <a:bodyPr/>
          <a:lstStyle/>
          <a:p>
            <a:endParaRPr lang="es-MX"/>
          </a:p>
        </p:txBody>
      </p:sp>
      <p:pic>
        <p:nvPicPr>
          <p:cNvPr id="19" name="Image 0" descr="Logo NexuStock"/>
          <p:cNvPicPr>
            <a:picLocks noChangeAspect="1"/>
          </p:cNvPicPr>
          <p:nvPr/>
        </p:nvPicPr>
        <p:blipFill>
          <a:blip r:embed="rId3"/>
          <a:srcRect/>
          <a:stretch/>
        </p:blipFill>
        <p:spPr>
          <a:xfrm>
            <a:off x="10871200" y="355600"/>
            <a:ext cx="508000" cy="508000"/>
          </a:xfrm>
          <a:prstGeom prst="ellipse">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4FAF8"/>
                </a:solidFill>
                <a:latin typeface="Jost" pitchFamily="34" charset="0"/>
                <a:ea typeface="Jost" pitchFamily="34" charset="-122"/>
                <a:cs typeface="Jost" pitchFamily="34" charset="-120"/>
              </a:rPr>
              <a:t>Plan de trabajo y avance</a:t>
            </a:r>
            <a:endParaRPr lang="en-US" sz="4000" dirty="0"/>
          </a:p>
        </p:txBody>
      </p:sp>
      <p:sp>
        <p:nvSpPr>
          <p:cNvPr id="3" name="Text 1"/>
          <p:cNvSpPr/>
          <p:nvPr/>
        </p:nvSpPr>
        <p:spPr>
          <a:xfrm>
            <a:off x="812800" y="142240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86D5CB"/>
                </a:solidFill>
                <a:latin typeface="Jost" pitchFamily="34" charset="0"/>
                <a:ea typeface="Jost" pitchFamily="34" charset="-122"/>
                <a:cs typeface="Jost" pitchFamily="34" charset="-120"/>
              </a:rPr>
              <a:t>Modelo en cascada, ciclo de 10 semanas</a:t>
            </a:r>
            <a:endParaRPr lang="en-US" sz="2200" dirty="0"/>
          </a:p>
        </p:txBody>
      </p:sp>
      <p:sp>
        <p:nvSpPr>
          <p:cNvPr id="101" name="Fase 1 fondo"/>
          <p:cNvSpPr/>
          <p:nvPr/>
        </p:nvSpPr>
        <p:spPr>
          <a:xfrm>
            <a:off x="812800" y="1960000"/>
            <a:ext cx="7645400" cy="560000"/>
          </a:xfrm>
          <a:prstGeom prst="roundRect">
            <a:avLst>
              <a:gd name="adj" fmla="val 22000"/>
            </a:avLst>
          </a:prstGeom>
          <a:solidFill>
            <a:srgbClr val="FFFFFF">
              <a:alpha val="6000"/>
            </a:srgbClr>
          </a:solidFill>
          <a:ln w="6350">
            <a:solidFill>
              <a:srgbClr val="86D5CB">
                <a:alpha val="28000"/>
              </a:srgbClr>
            </a:solidFill>
          </a:ln>
        </p:spPr>
        <p:txBody>
          <a:bodyPr/>
          <a:lstStyle/>
          <a:p>
            <a:endParaRPr lang="es-CL"/>
          </a:p>
        </p:txBody>
      </p:sp>
      <p:sp>
        <p:nvSpPr>
          <p:cNvPr id="102" name="Fase 1 nombre"/>
          <p:cNvSpPr txBox="1"/>
          <p:nvPr/>
        </p:nvSpPr>
        <p:spPr>
          <a:xfrm>
            <a:off x="1041400" y="2045000"/>
            <a:ext cx="5600000" cy="215000"/>
          </a:xfrm>
          <a:prstGeom prst="rect">
            <a:avLst/>
          </a:prstGeom>
          <a:noFill/>
        </p:spPr>
        <p:txBody>
          <a:bodyPr wrap="square" lIns="0" tIns="0" rIns="0" bIns="0" rtlCol="0" anchor="t">
            <a:noAutofit/>
          </a:bodyPr>
          <a:lstStyle/>
          <a:p>
            <a:pPr marL="0" indent="0" algn="l">
              <a:buNone/>
            </a:pPr>
            <a:r>
              <a:rPr lang="es-CL" sz="1400" dirty="0">
                <a:solidFill>
                  <a:srgbClr val="F4FAF8"/>
                </a:solidFill>
                <a:latin typeface="Jost" pitchFamily="34" charset="0"/>
                <a:ea typeface="Jost" pitchFamily="34" charset="-122"/>
                <a:cs typeface="Jost" pitchFamily="34" charset="-120"/>
              </a:rPr>
              <a:t>Definición del proyecto</a:t>
            </a:r>
          </a:p>
        </p:txBody>
      </p:sp>
      <p:sp>
        <p:nvSpPr>
          <p:cNvPr id="103" name="Fase 1 detalle"/>
          <p:cNvSpPr txBox="1"/>
          <p:nvPr/>
        </p:nvSpPr>
        <p:spPr>
          <a:xfrm>
            <a:off x="1041400" y="2260000"/>
            <a:ext cx="5600000" cy="190000"/>
          </a:xfrm>
          <a:prstGeom prst="rect">
            <a:avLst/>
          </a:prstGeom>
          <a:noFill/>
        </p:spPr>
        <p:txBody>
          <a:bodyPr wrap="square" lIns="0" tIns="0" rIns="0" bIns="0" rtlCol="0" anchor="t">
            <a:noAutofit/>
          </a:bodyPr>
          <a:lstStyle/>
          <a:p>
            <a:pPr marL="0" indent="0" algn="l">
              <a:buNone/>
            </a:pPr>
            <a:r>
              <a:rPr lang="es-CL" sz="1200" dirty="0">
                <a:solidFill>
                  <a:srgbClr val="BCD6D2"/>
                </a:solidFill>
                <a:latin typeface="Jost" pitchFamily="34" charset="0"/>
                <a:ea typeface="Jost" pitchFamily="34" charset="-122"/>
                <a:cs typeface="Jost" pitchFamily="34" charset="-120"/>
              </a:rPr>
              <a:t>Informe de definición de la Fase 1</a:t>
            </a:r>
          </a:p>
        </p:txBody>
      </p:sp>
      <p:sp>
        <p:nvSpPr>
          <p:cNvPr id="104" name="Fase 1 estado"/>
          <p:cNvSpPr/>
          <p:nvPr/>
        </p:nvSpPr>
        <p:spPr>
          <a:xfrm>
            <a:off x="7008200" y="2095000"/>
            <a:ext cx="1250000" cy="290000"/>
          </a:xfrm>
          <a:prstGeom prst="roundRect">
            <a:avLst>
              <a:gd name="adj" fmla="val 50000"/>
            </a:avLst>
          </a:prstGeom>
          <a:solidFill>
            <a:srgbClr val="86D5CB"/>
          </a:solidFill>
          <a:ln>
            <a:noFill/>
          </a:ln>
        </p:spPr>
        <p:txBody>
          <a:bodyPr wrap="none" lIns="0" tIns="0" rIns="0" bIns="0" rtlCol="0" anchor="ctr">
            <a:noAutofit/>
          </a:bodyPr>
          <a:lstStyle/>
          <a:p>
            <a:pPr algn="ctr">
              <a:buNone/>
            </a:pPr>
            <a:r>
              <a:rPr lang="es-CL" sz="1200" b="1" dirty="0">
                <a:solidFill>
                  <a:srgbClr val="0B272C"/>
                </a:solidFill>
                <a:latin typeface="Jost" pitchFamily="34" charset="0"/>
                <a:ea typeface="Jost" pitchFamily="34" charset="-122"/>
                <a:cs typeface="Jost" pitchFamily="34" charset="-120"/>
              </a:rPr>
              <a:t>Completado</a:t>
            </a:r>
          </a:p>
        </p:txBody>
      </p:sp>
      <p:sp>
        <p:nvSpPr>
          <p:cNvPr id="105" name="Fase 2 fondo"/>
          <p:cNvSpPr/>
          <p:nvPr/>
        </p:nvSpPr>
        <p:spPr>
          <a:xfrm>
            <a:off x="812800" y="2620000"/>
            <a:ext cx="7645400" cy="560000"/>
          </a:xfrm>
          <a:prstGeom prst="roundRect">
            <a:avLst>
              <a:gd name="adj" fmla="val 22000"/>
            </a:avLst>
          </a:prstGeom>
          <a:solidFill>
            <a:srgbClr val="FFFFFF">
              <a:alpha val="6000"/>
            </a:srgbClr>
          </a:solidFill>
          <a:ln w="6350">
            <a:solidFill>
              <a:srgbClr val="86D5CB">
                <a:alpha val="28000"/>
              </a:srgbClr>
            </a:solidFill>
          </a:ln>
        </p:spPr>
        <p:txBody>
          <a:bodyPr/>
          <a:lstStyle/>
          <a:p>
            <a:endParaRPr lang="es-CL"/>
          </a:p>
        </p:txBody>
      </p:sp>
      <p:sp>
        <p:nvSpPr>
          <p:cNvPr id="106" name="Fase 2 nombre"/>
          <p:cNvSpPr txBox="1"/>
          <p:nvPr/>
        </p:nvSpPr>
        <p:spPr>
          <a:xfrm>
            <a:off x="1041400" y="2705000"/>
            <a:ext cx="5600000" cy="215000"/>
          </a:xfrm>
          <a:prstGeom prst="rect">
            <a:avLst/>
          </a:prstGeom>
          <a:noFill/>
        </p:spPr>
        <p:txBody>
          <a:bodyPr wrap="square" lIns="0" tIns="0" rIns="0" bIns="0" rtlCol="0" anchor="t">
            <a:noAutofit/>
          </a:bodyPr>
          <a:lstStyle/>
          <a:p>
            <a:pPr marL="0" indent="0" algn="l">
              <a:buNone/>
            </a:pPr>
            <a:r>
              <a:rPr lang="es-CL" sz="1400" dirty="0">
                <a:solidFill>
                  <a:srgbClr val="F4FAF8"/>
                </a:solidFill>
                <a:latin typeface="Jost" pitchFamily="34" charset="0"/>
                <a:ea typeface="Jost" pitchFamily="34" charset="-122"/>
                <a:cs typeface="Jost" pitchFamily="34" charset="-120"/>
              </a:rPr>
              <a:t>Requerimientos</a:t>
            </a:r>
          </a:p>
        </p:txBody>
      </p:sp>
      <p:sp>
        <p:nvSpPr>
          <p:cNvPr id="107" name="Fase 2 detalle"/>
          <p:cNvSpPr txBox="1"/>
          <p:nvPr/>
        </p:nvSpPr>
        <p:spPr>
          <a:xfrm>
            <a:off x="1041400" y="2920000"/>
            <a:ext cx="5600000" cy="190000"/>
          </a:xfrm>
          <a:prstGeom prst="rect">
            <a:avLst/>
          </a:prstGeom>
          <a:noFill/>
        </p:spPr>
        <p:txBody>
          <a:bodyPr wrap="square" lIns="0" tIns="0" rIns="0" bIns="0" rtlCol="0" anchor="t">
            <a:noAutofit/>
          </a:bodyPr>
          <a:lstStyle/>
          <a:p>
            <a:pPr marL="0" indent="0" algn="l">
              <a:buNone/>
            </a:pPr>
            <a:r>
              <a:rPr lang="es-CL" sz="1200" dirty="0">
                <a:solidFill>
                  <a:srgbClr val="BCD6D2"/>
                </a:solidFill>
                <a:latin typeface="Jost" pitchFamily="34" charset="0"/>
                <a:ea typeface="Jost" pitchFamily="34" charset="-122"/>
                <a:cs typeface="Jost" pitchFamily="34" charset="-120"/>
              </a:rPr>
              <a:t>Documento 01, revisión 02 (17/10/2026)</a:t>
            </a:r>
          </a:p>
        </p:txBody>
      </p:sp>
      <p:sp>
        <p:nvSpPr>
          <p:cNvPr id="108" name="Fase 2 estado"/>
          <p:cNvSpPr/>
          <p:nvPr/>
        </p:nvSpPr>
        <p:spPr>
          <a:xfrm>
            <a:off x="7008200" y="2755000"/>
            <a:ext cx="1250000" cy="290000"/>
          </a:xfrm>
          <a:prstGeom prst="roundRect">
            <a:avLst>
              <a:gd name="adj" fmla="val 50000"/>
            </a:avLst>
          </a:prstGeom>
          <a:solidFill>
            <a:srgbClr val="86D5CB"/>
          </a:solidFill>
          <a:ln>
            <a:noFill/>
          </a:ln>
        </p:spPr>
        <p:txBody>
          <a:bodyPr wrap="none" lIns="0" tIns="0" rIns="0" bIns="0" rtlCol="0" anchor="ctr">
            <a:noAutofit/>
          </a:bodyPr>
          <a:lstStyle/>
          <a:p>
            <a:pPr algn="ctr">
              <a:buNone/>
            </a:pPr>
            <a:r>
              <a:rPr lang="es-CL" sz="1200" b="1" dirty="0">
                <a:solidFill>
                  <a:srgbClr val="0B272C"/>
                </a:solidFill>
                <a:latin typeface="Jost" pitchFamily="34" charset="0"/>
                <a:ea typeface="Jost" pitchFamily="34" charset="-122"/>
                <a:cs typeface="Jost" pitchFamily="34" charset="-120"/>
              </a:rPr>
              <a:t>Completado</a:t>
            </a:r>
          </a:p>
        </p:txBody>
      </p:sp>
      <p:sp>
        <p:nvSpPr>
          <p:cNvPr id="109" name="Fase 3 fondo"/>
          <p:cNvSpPr/>
          <p:nvPr/>
        </p:nvSpPr>
        <p:spPr>
          <a:xfrm>
            <a:off x="812800" y="3280000"/>
            <a:ext cx="7645400" cy="560000"/>
          </a:xfrm>
          <a:prstGeom prst="roundRect">
            <a:avLst>
              <a:gd name="adj" fmla="val 22000"/>
            </a:avLst>
          </a:prstGeom>
          <a:solidFill>
            <a:srgbClr val="FFFFFF">
              <a:alpha val="6000"/>
            </a:srgbClr>
          </a:solidFill>
          <a:ln w="6350">
            <a:solidFill>
              <a:srgbClr val="86D5CB">
                <a:alpha val="28000"/>
              </a:srgbClr>
            </a:solidFill>
          </a:ln>
        </p:spPr>
        <p:txBody>
          <a:bodyPr/>
          <a:lstStyle/>
          <a:p>
            <a:endParaRPr lang="es-CL"/>
          </a:p>
        </p:txBody>
      </p:sp>
      <p:sp>
        <p:nvSpPr>
          <p:cNvPr id="110" name="Fase 3 nombre"/>
          <p:cNvSpPr txBox="1"/>
          <p:nvPr/>
        </p:nvSpPr>
        <p:spPr>
          <a:xfrm>
            <a:off x="1041400" y="3365000"/>
            <a:ext cx="5600000" cy="215000"/>
          </a:xfrm>
          <a:prstGeom prst="rect">
            <a:avLst/>
          </a:prstGeom>
          <a:noFill/>
        </p:spPr>
        <p:txBody>
          <a:bodyPr wrap="square" lIns="0" tIns="0" rIns="0" bIns="0" rtlCol="0" anchor="t">
            <a:noAutofit/>
          </a:bodyPr>
          <a:lstStyle/>
          <a:p>
            <a:pPr marL="0" indent="0" algn="l">
              <a:buNone/>
            </a:pPr>
            <a:r>
              <a:rPr lang="es-CL" sz="1400" dirty="0">
                <a:solidFill>
                  <a:srgbClr val="F4FAF8"/>
                </a:solidFill>
                <a:latin typeface="Jost" pitchFamily="34" charset="0"/>
                <a:ea typeface="Jost" pitchFamily="34" charset="-122"/>
                <a:cs typeface="Jost" pitchFamily="34" charset="-120"/>
              </a:rPr>
              <a:t>Diseño</a:t>
            </a:r>
          </a:p>
        </p:txBody>
      </p:sp>
      <p:sp>
        <p:nvSpPr>
          <p:cNvPr id="111" name="Fase 3 detalle"/>
          <p:cNvSpPr txBox="1"/>
          <p:nvPr/>
        </p:nvSpPr>
        <p:spPr>
          <a:xfrm>
            <a:off x="1041400" y="3580000"/>
            <a:ext cx="5600000" cy="190000"/>
          </a:xfrm>
          <a:prstGeom prst="rect">
            <a:avLst/>
          </a:prstGeom>
          <a:noFill/>
        </p:spPr>
        <p:txBody>
          <a:bodyPr wrap="square" lIns="0" tIns="0" rIns="0" bIns="0" rtlCol="0" anchor="t">
            <a:noAutofit/>
          </a:bodyPr>
          <a:lstStyle/>
          <a:p>
            <a:pPr marL="0" indent="0" algn="l">
              <a:buNone/>
            </a:pPr>
            <a:r>
              <a:rPr lang="es-CL" sz="1200" dirty="0">
                <a:solidFill>
                  <a:srgbClr val="BCD6D2"/>
                </a:solidFill>
                <a:latin typeface="Jost" pitchFamily="34" charset="0"/>
                <a:ea typeface="Jost" pitchFamily="34" charset="-122"/>
                <a:cs typeface="Jost" pitchFamily="34" charset="-120"/>
              </a:rPr>
              <a:t>Documento 02 basado en UML, revisión 02 (17/10/2026)</a:t>
            </a:r>
          </a:p>
        </p:txBody>
      </p:sp>
      <p:sp>
        <p:nvSpPr>
          <p:cNvPr id="112" name="Fase 3 estado"/>
          <p:cNvSpPr/>
          <p:nvPr/>
        </p:nvSpPr>
        <p:spPr>
          <a:xfrm>
            <a:off x="7008200" y="3415000"/>
            <a:ext cx="1250000" cy="290000"/>
          </a:xfrm>
          <a:prstGeom prst="roundRect">
            <a:avLst>
              <a:gd name="adj" fmla="val 50000"/>
            </a:avLst>
          </a:prstGeom>
          <a:solidFill>
            <a:srgbClr val="86D5CB"/>
          </a:solidFill>
          <a:ln>
            <a:noFill/>
          </a:ln>
        </p:spPr>
        <p:txBody>
          <a:bodyPr wrap="none" lIns="0" tIns="0" rIns="0" bIns="0" rtlCol="0" anchor="ctr">
            <a:noAutofit/>
          </a:bodyPr>
          <a:lstStyle/>
          <a:p>
            <a:pPr algn="ctr">
              <a:buNone/>
            </a:pPr>
            <a:r>
              <a:rPr lang="es-CL" sz="1200" b="1" dirty="0">
                <a:solidFill>
                  <a:srgbClr val="0B272C"/>
                </a:solidFill>
                <a:latin typeface="Jost" pitchFamily="34" charset="0"/>
                <a:ea typeface="Jost" pitchFamily="34" charset="-122"/>
                <a:cs typeface="Jost" pitchFamily="34" charset="-120"/>
              </a:rPr>
              <a:t>Completado</a:t>
            </a:r>
          </a:p>
        </p:txBody>
      </p:sp>
      <p:sp>
        <p:nvSpPr>
          <p:cNvPr id="113" name="Fase 4 fondo"/>
          <p:cNvSpPr/>
          <p:nvPr/>
        </p:nvSpPr>
        <p:spPr>
          <a:xfrm>
            <a:off x="812800" y="3940000"/>
            <a:ext cx="7645400" cy="560000"/>
          </a:xfrm>
          <a:prstGeom prst="roundRect">
            <a:avLst>
              <a:gd name="adj" fmla="val 22000"/>
            </a:avLst>
          </a:prstGeom>
          <a:solidFill>
            <a:srgbClr val="FFFFFF">
              <a:alpha val="6000"/>
            </a:srgbClr>
          </a:solidFill>
          <a:ln w="6350">
            <a:solidFill>
              <a:srgbClr val="86D5CB">
                <a:alpha val="28000"/>
              </a:srgbClr>
            </a:solidFill>
          </a:ln>
        </p:spPr>
        <p:txBody>
          <a:bodyPr/>
          <a:lstStyle/>
          <a:p>
            <a:endParaRPr lang="es-CL"/>
          </a:p>
        </p:txBody>
      </p:sp>
      <p:sp>
        <p:nvSpPr>
          <p:cNvPr id="114" name="Fase 4 nombre"/>
          <p:cNvSpPr txBox="1"/>
          <p:nvPr/>
        </p:nvSpPr>
        <p:spPr>
          <a:xfrm>
            <a:off x="1041400" y="4025000"/>
            <a:ext cx="5600000" cy="215000"/>
          </a:xfrm>
          <a:prstGeom prst="rect">
            <a:avLst/>
          </a:prstGeom>
          <a:noFill/>
        </p:spPr>
        <p:txBody>
          <a:bodyPr wrap="square" lIns="0" tIns="0" rIns="0" bIns="0" rtlCol="0" anchor="t">
            <a:noAutofit/>
          </a:bodyPr>
          <a:lstStyle/>
          <a:p>
            <a:pPr marL="0" indent="0" algn="l">
              <a:buNone/>
            </a:pPr>
            <a:r>
              <a:rPr lang="es-CL" sz="1400" dirty="0">
                <a:solidFill>
                  <a:srgbClr val="F4FAF8"/>
                </a:solidFill>
                <a:latin typeface="Jost" pitchFamily="34" charset="0"/>
                <a:ea typeface="Jost" pitchFamily="34" charset="-122"/>
                <a:cs typeface="Jost" pitchFamily="34" charset="-120"/>
              </a:rPr>
              <a:t>Implementación</a:t>
            </a:r>
          </a:p>
        </p:txBody>
      </p:sp>
      <p:sp>
        <p:nvSpPr>
          <p:cNvPr id="115" name="Fase 4 detalle"/>
          <p:cNvSpPr txBox="1"/>
          <p:nvPr/>
        </p:nvSpPr>
        <p:spPr>
          <a:xfrm>
            <a:off x="1041400" y="4240000"/>
            <a:ext cx="5600000" cy="190000"/>
          </a:xfrm>
          <a:prstGeom prst="rect">
            <a:avLst/>
          </a:prstGeom>
          <a:noFill/>
        </p:spPr>
        <p:txBody>
          <a:bodyPr wrap="square" lIns="0" tIns="0" rIns="0" bIns="0" rtlCol="0" anchor="t">
            <a:noAutofit/>
          </a:bodyPr>
          <a:lstStyle/>
          <a:p>
            <a:pPr marL="0" indent="0" algn="l">
              <a:buNone/>
            </a:pPr>
            <a:r>
              <a:rPr lang="es-CL" sz="1200" dirty="0">
                <a:solidFill>
                  <a:srgbClr val="BCD6D2"/>
                </a:solidFill>
                <a:latin typeface="Jost" pitchFamily="34" charset="0"/>
                <a:ea typeface="Jost" pitchFamily="34" charset="-122"/>
                <a:cs typeface="Jost" pitchFamily="34" charset="-120"/>
              </a:rPr>
              <a:t>Backend y frontend RF-01 a RF-13 con pruebas; falta desplegar</a:t>
            </a:r>
          </a:p>
        </p:txBody>
      </p:sp>
      <p:sp>
        <p:nvSpPr>
          <p:cNvPr id="116" name="Fase 4 estado"/>
          <p:cNvSpPr/>
          <p:nvPr/>
        </p:nvSpPr>
        <p:spPr>
          <a:xfrm>
            <a:off x="7008200" y="4075000"/>
            <a:ext cx="1250000" cy="290000"/>
          </a:xfrm>
          <a:prstGeom prst="roundRect">
            <a:avLst>
              <a:gd name="adj" fmla="val 50000"/>
            </a:avLst>
          </a:prstGeom>
          <a:solidFill>
            <a:srgbClr val="E9C75A"/>
          </a:solidFill>
          <a:ln>
            <a:noFill/>
          </a:ln>
        </p:spPr>
        <p:txBody>
          <a:bodyPr wrap="none" lIns="0" tIns="0" rIns="0" bIns="0" rtlCol="0" anchor="ctr">
            <a:noAutofit/>
          </a:bodyPr>
          <a:lstStyle/>
          <a:p>
            <a:pPr algn="ctr">
              <a:buNone/>
            </a:pPr>
            <a:r>
              <a:rPr lang="es-CL" sz="1200" b="1" dirty="0">
                <a:solidFill>
                  <a:srgbClr val="2B2306"/>
                </a:solidFill>
                <a:latin typeface="Jost" pitchFamily="34" charset="0"/>
                <a:ea typeface="Jost" pitchFamily="34" charset="-122"/>
                <a:cs typeface="Jost" pitchFamily="34" charset="-120"/>
              </a:rPr>
              <a:t>En curso</a:t>
            </a:r>
          </a:p>
        </p:txBody>
      </p:sp>
      <p:sp>
        <p:nvSpPr>
          <p:cNvPr id="117" name="Fase 5 fondo"/>
          <p:cNvSpPr/>
          <p:nvPr/>
        </p:nvSpPr>
        <p:spPr>
          <a:xfrm>
            <a:off x="812800" y="4600000"/>
            <a:ext cx="7645400" cy="560000"/>
          </a:xfrm>
          <a:prstGeom prst="roundRect">
            <a:avLst>
              <a:gd name="adj" fmla="val 22000"/>
            </a:avLst>
          </a:prstGeom>
          <a:solidFill>
            <a:srgbClr val="FFFFFF">
              <a:alpha val="6000"/>
            </a:srgbClr>
          </a:solidFill>
          <a:ln w="6350">
            <a:solidFill>
              <a:srgbClr val="86D5CB">
                <a:alpha val="28000"/>
              </a:srgbClr>
            </a:solidFill>
          </a:ln>
        </p:spPr>
        <p:txBody>
          <a:bodyPr/>
          <a:lstStyle/>
          <a:p>
            <a:endParaRPr lang="es-CL"/>
          </a:p>
        </p:txBody>
      </p:sp>
      <p:sp>
        <p:nvSpPr>
          <p:cNvPr id="118" name="Fase 5 nombre"/>
          <p:cNvSpPr txBox="1"/>
          <p:nvPr/>
        </p:nvSpPr>
        <p:spPr>
          <a:xfrm>
            <a:off x="1041400" y="4685000"/>
            <a:ext cx="5600000" cy="215000"/>
          </a:xfrm>
          <a:prstGeom prst="rect">
            <a:avLst/>
          </a:prstGeom>
          <a:noFill/>
        </p:spPr>
        <p:txBody>
          <a:bodyPr wrap="square" lIns="0" tIns="0" rIns="0" bIns="0" rtlCol="0" anchor="t">
            <a:noAutofit/>
          </a:bodyPr>
          <a:lstStyle/>
          <a:p>
            <a:pPr marL="0" indent="0" algn="l">
              <a:buNone/>
            </a:pPr>
            <a:r>
              <a:rPr lang="es-CL" sz="1400" dirty="0">
                <a:solidFill>
                  <a:srgbClr val="F4FAF8"/>
                </a:solidFill>
                <a:latin typeface="Jost" pitchFamily="34" charset="0"/>
                <a:ea typeface="Jost" pitchFamily="34" charset="-122"/>
                <a:cs typeface="Jost" pitchFamily="34" charset="-120"/>
              </a:rPr>
              <a:t>Motor predictivo</a:t>
            </a:r>
          </a:p>
        </p:txBody>
      </p:sp>
      <p:sp>
        <p:nvSpPr>
          <p:cNvPr id="119" name="Fase 5 detalle"/>
          <p:cNvSpPr txBox="1"/>
          <p:nvPr/>
        </p:nvSpPr>
        <p:spPr>
          <a:xfrm>
            <a:off x="1041400" y="4900000"/>
            <a:ext cx="5600000" cy="190000"/>
          </a:xfrm>
          <a:prstGeom prst="rect">
            <a:avLst/>
          </a:prstGeom>
          <a:noFill/>
        </p:spPr>
        <p:txBody>
          <a:bodyPr wrap="square" lIns="0" tIns="0" rIns="0" bIns="0" rtlCol="0" anchor="t">
            <a:noAutofit/>
          </a:bodyPr>
          <a:lstStyle/>
          <a:p>
            <a:pPr marL="0" indent="0" algn="l">
              <a:buNone/>
            </a:pPr>
            <a:r>
              <a:rPr lang="es-CL" sz="1200" dirty="0">
                <a:solidFill>
                  <a:srgbClr val="BCD6D2"/>
                </a:solidFill>
                <a:latin typeface="Jost" pitchFamily="34" charset="0"/>
                <a:ea typeface="Jost" pitchFamily="34" charset="-122"/>
                <a:cs typeface="Jost" pitchFamily="34" charset="-120"/>
              </a:rPr>
              <a:t>Entrenamiento 2022–2023 y prueba 2024 con MAE</a:t>
            </a:r>
          </a:p>
        </p:txBody>
      </p:sp>
      <p:sp>
        <p:nvSpPr>
          <p:cNvPr id="120" name="Fase 5 estado"/>
          <p:cNvSpPr/>
          <p:nvPr/>
        </p:nvSpPr>
        <p:spPr>
          <a:xfrm>
            <a:off x="7008200" y="4735000"/>
            <a:ext cx="1250000" cy="290000"/>
          </a:xfrm>
          <a:prstGeom prst="roundRect">
            <a:avLst>
              <a:gd name="adj" fmla="val 50000"/>
            </a:avLst>
          </a:prstGeom>
          <a:solidFill>
            <a:srgbClr val="E9C75A"/>
          </a:solidFill>
          <a:ln>
            <a:noFill/>
          </a:ln>
        </p:spPr>
        <p:txBody>
          <a:bodyPr wrap="none" lIns="0" tIns="0" rIns="0" bIns="0" rtlCol="0" anchor="ctr">
            <a:noAutofit/>
          </a:bodyPr>
          <a:lstStyle/>
          <a:p>
            <a:pPr algn="ctr">
              <a:buNone/>
            </a:pPr>
            <a:r>
              <a:rPr lang="es-CL" sz="1200" b="1" dirty="0">
                <a:solidFill>
                  <a:srgbClr val="2B2306"/>
                </a:solidFill>
                <a:latin typeface="Jost" pitchFamily="34" charset="0"/>
                <a:ea typeface="Jost" pitchFamily="34" charset="-122"/>
                <a:cs typeface="Jost" pitchFamily="34" charset="-120"/>
              </a:rPr>
              <a:t>En curso</a:t>
            </a:r>
          </a:p>
        </p:txBody>
      </p:sp>
      <p:sp>
        <p:nvSpPr>
          <p:cNvPr id="121" name="Fase 6 fondo"/>
          <p:cNvSpPr/>
          <p:nvPr/>
        </p:nvSpPr>
        <p:spPr>
          <a:xfrm>
            <a:off x="812800" y="5260000"/>
            <a:ext cx="7645400" cy="560000"/>
          </a:xfrm>
          <a:prstGeom prst="roundRect">
            <a:avLst>
              <a:gd name="adj" fmla="val 22000"/>
            </a:avLst>
          </a:prstGeom>
          <a:solidFill>
            <a:srgbClr val="FFFFFF">
              <a:alpha val="6000"/>
            </a:srgbClr>
          </a:solidFill>
          <a:ln w="6350">
            <a:solidFill>
              <a:srgbClr val="86D5CB">
                <a:alpha val="28000"/>
              </a:srgbClr>
            </a:solidFill>
          </a:ln>
        </p:spPr>
        <p:txBody>
          <a:bodyPr/>
          <a:lstStyle/>
          <a:p>
            <a:endParaRPr lang="es-CL"/>
          </a:p>
        </p:txBody>
      </p:sp>
      <p:sp>
        <p:nvSpPr>
          <p:cNvPr id="122" name="Fase 6 nombre"/>
          <p:cNvSpPr txBox="1"/>
          <p:nvPr/>
        </p:nvSpPr>
        <p:spPr>
          <a:xfrm>
            <a:off x="1041400" y="5345000"/>
            <a:ext cx="5600000" cy="215000"/>
          </a:xfrm>
          <a:prstGeom prst="rect">
            <a:avLst/>
          </a:prstGeom>
          <a:noFill/>
        </p:spPr>
        <p:txBody>
          <a:bodyPr wrap="square" lIns="0" tIns="0" rIns="0" bIns="0" rtlCol="0" anchor="t">
            <a:noAutofit/>
          </a:bodyPr>
          <a:lstStyle/>
          <a:p>
            <a:pPr marL="0" indent="0" algn="l">
              <a:buNone/>
            </a:pPr>
            <a:r>
              <a:rPr lang="es-CL" sz="1400" dirty="0">
                <a:solidFill>
                  <a:srgbClr val="F4FAF8"/>
                </a:solidFill>
                <a:latin typeface="Jost" pitchFamily="34" charset="0"/>
                <a:ea typeface="Jost" pitchFamily="34" charset="-122"/>
                <a:cs typeface="Jost" pitchFamily="34" charset="-120"/>
              </a:rPr>
              <a:t>Nube, factibilidad y cierre</a:t>
            </a:r>
          </a:p>
        </p:txBody>
      </p:sp>
      <p:sp>
        <p:nvSpPr>
          <p:cNvPr id="123" name="Fase 6 detalle"/>
          <p:cNvSpPr txBox="1"/>
          <p:nvPr/>
        </p:nvSpPr>
        <p:spPr>
          <a:xfrm>
            <a:off x="1041400" y="5560000"/>
            <a:ext cx="5600000" cy="190000"/>
          </a:xfrm>
          <a:prstGeom prst="rect">
            <a:avLst/>
          </a:prstGeom>
          <a:noFill/>
        </p:spPr>
        <p:txBody>
          <a:bodyPr wrap="square" lIns="0" tIns="0" rIns="0" bIns="0" rtlCol="0" anchor="t">
            <a:noAutofit/>
          </a:bodyPr>
          <a:lstStyle/>
          <a:p>
            <a:pPr marL="0" indent="0" algn="l">
              <a:buNone/>
            </a:pPr>
            <a:r>
              <a:rPr lang="es-CL" sz="1200" dirty="0">
                <a:solidFill>
                  <a:srgbClr val="BCD6D2"/>
                </a:solidFill>
                <a:latin typeface="Jost" pitchFamily="34" charset="0"/>
                <a:ea typeface="Jost" pitchFamily="34" charset="-122"/>
                <a:cs typeface="Jost" pitchFamily="34" charset="-120"/>
              </a:rPr>
              <a:t>Despliegue en Supabase, VAN, TIR, ROI y manuales</a:t>
            </a:r>
          </a:p>
        </p:txBody>
      </p:sp>
      <p:sp>
        <p:nvSpPr>
          <p:cNvPr id="124" name="Fase 6 estado"/>
          <p:cNvSpPr/>
          <p:nvPr/>
        </p:nvSpPr>
        <p:spPr>
          <a:xfrm>
            <a:off x="7008200" y="5395000"/>
            <a:ext cx="1250000" cy="290000"/>
          </a:xfrm>
          <a:prstGeom prst="roundRect">
            <a:avLst>
              <a:gd name="adj" fmla="val 50000"/>
            </a:avLst>
          </a:prstGeom>
          <a:noFill/>
          <a:ln w="12700">
            <a:solidFill>
              <a:srgbClr val="86D5CB"/>
            </a:solidFill>
          </a:ln>
        </p:spPr>
        <p:txBody>
          <a:bodyPr wrap="none" lIns="0" tIns="0" rIns="0" bIns="0" rtlCol="0" anchor="ctr">
            <a:noAutofit/>
          </a:bodyPr>
          <a:lstStyle/>
          <a:p>
            <a:pPr algn="ctr">
              <a:buNone/>
            </a:pPr>
            <a:r>
              <a:rPr lang="es-CL" sz="1200" b="1" dirty="0">
                <a:solidFill>
                  <a:srgbClr val="EEF6F4"/>
                </a:solidFill>
                <a:latin typeface="Jost" pitchFamily="34" charset="0"/>
                <a:ea typeface="Jost" pitchFamily="34" charset="-122"/>
                <a:cs typeface="Jost" pitchFamily="34" charset="-120"/>
              </a:rPr>
              <a:t>Pendiente</a:t>
            </a:r>
          </a:p>
        </p:txBody>
      </p:sp>
      <p:sp>
        <p:nvSpPr>
          <p:cNvPr id="125" name="QR tarjeta"/>
          <p:cNvSpPr/>
          <p:nvPr/>
        </p:nvSpPr>
        <p:spPr>
          <a:xfrm>
            <a:off x="8763000" y="1960000"/>
            <a:ext cx="2616200" cy="3860000"/>
          </a:xfrm>
          <a:prstGeom prst="roundRect">
            <a:avLst>
              <a:gd name="adj" fmla="val 6000"/>
            </a:avLst>
          </a:prstGeom>
          <a:solidFill>
            <a:srgbClr val="FFFFFF">
              <a:alpha val="6000"/>
            </a:srgbClr>
          </a:solidFill>
          <a:ln w="6350">
            <a:solidFill>
              <a:srgbClr val="86D5CB">
                <a:alpha val="28000"/>
              </a:srgbClr>
            </a:solidFill>
          </a:ln>
        </p:spPr>
        <p:txBody>
          <a:bodyPr/>
          <a:lstStyle/>
          <a:p>
            <a:endParaRPr lang="es-CL"/>
          </a:p>
        </p:txBody>
      </p:sp>
      <p:sp>
        <p:nvSpPr>
          <p:cNvPr id="126" name="QR fondo"/>
          <p:cNvSpPr/>
          <p:nvPr/>
        </p:nvSpPr>
        <p:spPr>
          <a:xfrm>
            <a:off x="8991100" y="2240000"/>
            <a:ext cx="2160000" cy="2160000"/>
          </a:xfrm>
          <a:prstGeom prst="roundRect">
            <a:avLst>
              <a:gd name="adj" fmla="val 6000"/>
            </a:avLst>
          </a:prstGeom>
          <a:solidFill>
            <a:srgbClr val="FFFFFF"/>
          </a:solidFill>
          <a:ln>
            <a:noFill/>
          </a:ln>
        </p:spPr>
        <p:txBody>
          <a:bodyPr/>
          <a:lstStyle/>
          <a:p>
            <a:endParaRPr lang="es-CL"/>
          </a:p>
        </p:txBody>
      </p:sp>
      <p:sp>
        <p:nvSpPr>
          <p:cNvPr id="128" name="QR título"/>
          <p:cNvSpPr txBox="1"/>
          <p:nvPr/>
        </p:nvSpPr>
        <p:spPr>
          <a:xfrm>
            <a:off x="8913000" y="4630000"/>
            <a:ext cx="2316200" cy="260000"/>
          </a:xfrm>
          <a:prstGeom prst="rect">
            <a:avLst/>
          </a:prstGeom>
          <a:noFill/>
        </p:spPr>
        <p:txBody>
          <a:bodyPr wrap="square" lIns="0" tIns="0" rIns="0" bIns="0" rtlCol="0" anchor="t">
            <a:noAutofit/>
          </a:bodyPr>
          <a:lstStyle/>
          <a:p>
            <a:pPr marL="0" indent="0" algn="ctr">
              <a:buNone/>
            </a:pPr>
            <a:r>
              <a:rPr lang="es-CL" sz="1600" dirty="0">
                <a:solidFill>
                  <a:srgbClr val="F4FAF8"/>
                </a:solidFill>
                <a:latin typeface="Jost" pitchFamily="34" charset="0"/>
                <a:ea typeface="Jost" pitchFamily="34" charset="-122"/>
                <a:cs typeface="Jost" pitchFamily="34" charset="-120"/>
              </a:rPr>
              <a:t>Avance en detalle</a:t>
            </a:r>
          </a:p>
        </p:txBody>
      </p:sp>
      <p:sp>
        <p:nvSpPr>
          <p:cNvPr id="129" name="QR texto"/>
          <p:cNvSpPr txBox="1"/>
          <p:nvPr/>
        </p:nvSpPr>
        <p:spPr>
          <a:xfrm>
            <a:off x="8913000" y="4930000"/>
            <a:ext cx="2316200" cy="420000"/>
          </a:xfrm>
          <a:prstGeom prst="rect">
            <a:avLst/>
          </a:prstGeom>
          <a:noFill/>
        </p:spPr>
        <p:txBody>
          <a:bodyPr wrap="square" lIns="0" tIns="0" rIns="0" bIns="0" rtlCol="0" anchor="t">
            <a:noAutofit/>
          </a:bodyPr>
          <a:lstStyle/>
          <a:p>
            <a:pPr marL="0" indent="0" algn="ctr">
              <a:buNone/>
            </a:pPr>
            <a:r>
              <a:rPr lang="es-CL" sz="1200" dirty="0">
                <a:solidFill>
                  <a:srgbClr val="86D5CB"/>
                </a:solidFill>
                <a:latin typeface="Jost" pitchFamily="34" charset="0"/>
                <a:ea typeface="Jost" pitchFamily="34" charset="-122"/>
                <a:cs typeface="Jost" pitchFamily="34" charset="-120"/>
              </a:rPr>
              <a:t>Escanea para ver el estado actualizado</a:t>
            </a:r>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NexuStock</a:t>
            </a:r>
            <a:endParaRPr lang="en-US" sz="1200" dirty="0"/>
          </a:p>
        </p:txBody>
      </p:sp>
      <p:sp>
        <p:nvSpPr>
          <p:cNvPr id="29" name="Text 2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8 / 10</a:t>
            </a:r>
            <a:endParaRPr lang="en-US" sz="1200" dirty="0"/>
          </a:p>
        </p:txBody>
      </p:sp>
      <p:sp>
        <p:nvSpPr>
          <p:cNvPr id="30" name="Shape 28"/>
          <p:cNvSpPr/>
          <p:nvPr/>
        </p:nvSpPr>
        <p:spPr>
          <a:xfrm>
            <a:off x="10871200" y="355600"/>
            <a:ext cx="508000" cy="508000"/>
          </a:xfrm>
          <a:prstGeom prst="roundRect">
            <a:avLst>
              <a:gd name="adj" fmla="val 50000"/>
            </a:avLst>
          </a:prstGeom>
          <a:solidFill>
            <a:srgbClr val="F4F1E8"/>
          </a:solidFill>
          <a:ln/>
        </p:spPr>
        <p:txBody>
          <a:bodyPr/>
          <a:lstStyle/>
          <a:p>
            <a:endParaRPr lang="es-MX"/>
          </a:p>
        </p:txBody>
      </p:sp>
      <p:pic>
        <p:nvPicPr>
          <p:cNvPr id="31" name="Image 0" descr="Logo NexuStock"/>
          <p:cNvPicPr>
            <a:picLocks noChangeAspect="1"/>
          </p:cNvPicPr>
          <p:nvPr/>
        </p:nvPicPr>
        <p:blipFill>
          <a:blip r:embed="rId3"/>
          <a:srcRect/>
          <a:stretch/>
        </p:blipFill>
        <p:spPr>
          <a:xfrm>
            <a:off x="10871200" y="355600"/>
            <a:ext cx="508000" cy="508000"/>
          </a:xfrm>
          <a:prstGeom prst="ellipse">
            <a:avLst/>
          </a:prstGeom>
        </p:spPr>
      </p:pic>
      <p:pic>
        <p:nvPicPr>
          <p:cNvPr id="7" name="Imagen 6">
            <a:extLst>
              <a:ext uri="{FF2B5EF4-FFF2-40B4-BE49-F238E27FC236}">
                <a16:creationId xmlns:a16="http://schemas.microsoft.com/office/drawing/2014/main" id="{1D6AD0C2-EA9F-195A-BDD9-FDFF1F0C2D79}"/>
              </a:ext>
            </a:extLst>
          </p:cNvPr>
          <p:cNvPicPr>
            <a:picLocks noChangeAspect="1"/>
          </p:cNvPicPr>
          <p:nvPr/>
        </p:nvPicPr>
        <p:blipFill>
          <a:blip r:embed="rId4"/>
          <a:stretch>
            <a:fillRect/>
          </a:stretch>
        </p:blipFill>
        <p:spPr>
          <a:xfrm>
            <a:off x="9167086" y="2388381"/>
            <a:ext cx="1874154" cy="18702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4FAF8"/>
                </a:solidFill>
                <a:latin typeface="Jost" pitchFamily="34" charset="0"/>
                <a:ea typeface="Jost" pitchFamily="34" charset="-122"/>
                <a:cs typeface="Jost" pitchFamily="34" charset="-120"/>
              </a:rPr>
              <a:t>Demostración</a:t>
            </a:r>
            <a:endParaRPr lang="en-US" sz="4000" dirty="0"/>
          </a:p>
        </p:txBody>
      </p:sp>
      <p:sp>
        <p:nvSpPr>
          <p:cNvPr id="3" name="Text 1"/>
          <p:cNvSpPr/>
          <p:nvPr/>
        </p:nvSpPr>
        <p:spPr>
          <a:xfrm>
            <a:off x="812800" y="142240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86D5CB"/>
                </a:solidFill>
                <a:latin typeface="Jost" pitchFamily="34" charset="0"/>
                <a:ea typeface="Jost" pitchFamily="34" charset="-122"/>
                <a:cs typeface="Jost" pitchFamily="34" charset="-120"/>
              </a:rPr>
              <a:t>Video de 3 minutos con toda la funcionalidad</a:t>
            </a:r>
            <a:endParaRPr lang="en-US" sz="2200" dirty="0"/>
          </a:p>
        </p:txBody>
      </p:sp>
      <p:sp>
        <p:nvSpPr>
          <p:cNvPr id="4" name="Shape 2"/>
          <p:cNvSpPr/>
          <p:nvPr/>
        </p:nvSpPr>
        <p:spPr>
          <a:xfrm>
            <a:off x="819150" y="1992610"/>
            <a:ext cx="4813300" cy="3144044"/>
          </a:xfrm>
          <a:prstGeom prst="roundRect">
            <a:avLst>
              <a:gd name="adj" fmla="val 5453"/>
            </a:avLst>
          </a:prstGeom>
          <a:solidFill>
            <a:srgbClr val="0B272C">
              <a:alpha val="70000"/>
            </a:srgbClr>
          </a:solidFill>
          <a:ln w="12700">
            <a:solidFill>
              <a:srgbClr val="86D5CB">
                <a:alpha val="50000"/>
              </a:srgbClr>
            </a:solidFill>
            <a:prstDash val="solid"/>
          </a:ln>
        </p:spPr>
        <p:txBody>
          <a:bodyPr/>
          <a:lstStyle/>
          <a:p>
            <a:endParaRPr lang="es-MX"/>
          </a:p>
        </p:txBody>
      </p:sp>
      <p:pic>
        <p:nvPicPr>
          <p:cNvPr id="5" name="Image 0" descr="Play"/>
          <p:cNvPicPr>
            <a:picLocks noChangeAspect="1"/>
          </p:cNvPicPr>
          <p:nvPr/>
        </p:nvPicPr>
        <p:blipFill>
          <a:blip r:embed="rId3"/>
          <a:srcRect/>
          <a:stretch/>
        </p:blipFill>
        <p:spPr>
          <a:xfrm>
            <a:off x="2781300" y="2896592"/>
            <a:ext cx="889000" cy="889000"/>
          </a:xfrm>
          <a:prstGeom prst="rect">
            <a:avLst/>
          </a:prstGeom>
        </p:spPr>
      </p:pic>
      <p:sp>
        <p:nvSpPr>
          <p:cNvPr id="6" name="Text 3"/>
          <p:cNvSpPr/>
          <p:nvPr/>
        </p:nvSpPr>
        <p:spPr>
          <a:xfrm>
            <a:off x="2471777" y="3912592"/>
            <a:ext cx="1508046" cy="34538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F4FAF8"/>
                </a:solidFill>
                <a:latin typeface="Jost" pitchFamily="34" charset="0"/>
                <a:ea typeface="Jost" pitchFamily="34" charset="-122"/>
                <a:cs typeface="Jost" pitchFamily="34" charset="-120"/>
              </a:rPr>
              <a:t>Video · 3:00</a:t>
            </a:r>
            <a:endParaRPr lang="en-US" sz="1800" dirty="0"/>
          </a:p>
        </p:txBody>
      </p:sp>
      <p:sp>
        <p:nvSpPr>
          <p:cNvPr id="7" name="Shape 4"/>
          <p:cNvSpPr/>
          <p:nvPr/>
        </p:nvSpPr>
        <p:spPr>
          <a:xfrm>
            <a:off x="6055797" y="1972865"/>
            <a:ext cx="5435600" cy="452041"/>
          </a:xfrm>
          <a:prstGeom prst="roundRect">
            <a:avLst>
              <a:gd name="adj" fmla="val 25285"/>
            </a:avLst>
          </a:prstGeom>
          <a:solidFill>
            <a:srgbClr val="FFFFFF">
              <a:alpha val="6000"/>
            </a:srgbClr>
          </a:solidFill>
          <a:ln/>
        </p:spPr>
        <p:txBody>
          <a:bodyPr/>
          <a:lstStyle/>
          <a:p>
            <a:endParaRPr lang="es-MX"/>
          </a:p>
        </p:txBody>
      </p:sp>
      <p:sp>
        <p:nvSpPr>
          <p:cNvPr id="8" name="Text 5"/>
          <p:cNvSpPr/>
          <p:nvPr/>
        </p:nvSpPr>
        <p:spPr>
          <a:xfrm>
            <a:off x="6121400" y="2087860"/>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6D5CB"/>
                </a:solidFill>
                <a:latin typeface="Jost" pitchFamily="34" charset="0"/>
                <a:ea typeface="Jost" pitchFamily="34" charset="-122"/>
                <a:cs typeface="Jost" pitchFamily="34" charset="-120"/>
              </a:rPr>
              <a:t>0:00</a:t>
            </a:r>
            <a:endParaRPr lang="en-US" sz="1400" dirty="0"/>
          </a:p>
        </p:txBody>
      </p:sp>
      <p:sp>
        <p:nvSpPr>
          <p:cNvPr id="9" name="Text 6"/>
          <p:cNvSpPr/>
          <p:nvPr/>
        </p:nvSpPr>
        <p:spPr>
          <a:xfrm>
            <a:off x="6972300" y="2087860"/>
            <a:ext cx="131052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EF6F4"/>
                </a:solidFill>
                <a:latin typeface="Jost" pitchFamily="34" charset="0"/>
                <a:ea typeface="Jost" pitchFamily="34" charset="-122"/>
                <a:cs typeface="Jost" pitchFamily="34" charset="-120"/>
              </a:rPr>
              <a:t>Acceso y roles</a:t>
            </a:r>
            <a:endParaRPr lang="en-US" sz="1400" dirty="0"/>
          </a:p>
        </p:txBody>
      </p:sp>
      <p:sp>
        <p:nvSpPr>
          <p:cNvPr id="10" name="Shape 7"/>
          <p:cNvSpPr/>
          <p:nvPr/>
        </p:nvSpPr>
        <p:spPr>
          <a:xfrm>
            <a:off x="6055797" y="2513805"/>
            <a:ext cx="5435600" cy="452041"/>
          </a:xfrm>
          <a:prstGeom prst="roundRect">
            <a:avLst>
              <a:gd name="adj" fmla="val 25285"/>
            </a:avLst>
          </a:prstGeom>
          <a:solidFill>
            <a:srgbClr val="FFFFFF">
              <a:alpha val="6000"/>
            </a:srgbClr>
          </a:solidFill>
          <a:ln/>
        </p:spPr>
        <p:txBody>
          <a:bodyPr/>
          <a:lstStyle/>
          <a:p>
            <a:endParaRPr lang="es-MX"/>
          </a:p>
        </p:txBody>
      </p:sp>
      <p:sp>
        <p:nvSpPr>
          <p:cNvPr id="11" name="Text 8"/>
          <p:cNvSpPr/>
          <p:nvPr/>
        </p:nvSpPr>
        <p:spPr>
          <a:xfrm>
            <a:off x="6121400" y="2628801"/>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6D5CB"/>
                </a:solidFill>
                <a:latin typeface="Jost" pitchFamily="34" charset="0"/>
                <a:ea typeface="Jost" pitchFamily="34" charset="-122"/>
                <a:cs typeface="Jost" pitchFamily="34" charset="-120"/>
              </a:rPr>
              <a:t>0:20</a:t>
            </a:r>
            <a:endParaRPr lang="en-US" sz="1400" dirty="0"/>
          </a:p>
        </p:txBody>
      </p:sp>
      <p:sp>
        <p:nvSpPr>
          <p:cNvPr id="12" name="Text 9"/>
          <p:cNvSpPr/>
          <p:nvPr/>
        </p:nvSpPr>
        <p:spPr>
          <a:xfrm>
            <a:off x="6972300" y="2628801"/>
            <a:ext cx="20329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EF6F4"/>
                </a:solidFill>
                <a:latin typeface="Jost" pitchFamily="34" charset="0"/>
                <a:ea typeface="Jost" pitchFamily="34" charset="-122"/>
                <a:cs typeface="Jost" pitchFamily="34" charset="-120"/>
              </a:rPr>
              <a:t>Dashboard y semáforo</a:t>
            </a:r>
            <a:endParaRPr lang="en-US" sz="1400" dirty="0"/>
          </a:p>
        </p:txBody>
      </p:sp>
      <p:sp>
        <p:nvSpPr>
          <p:cNvPr id="13" name="Shape 10"/>
          <p:cNvSpPr/>
          <p:nvPr/>
        </p:nvSpPr>
        <p:spPr>
          <a:xfrm>
            <a:off x="6055797" y="3060861"/>
            <a:ext cx="5435600" cy="452041"/>
          </a:xfrm>
          <a:prstGeom prst="roundRect">
            <a:avLst>
              <a:gd name="adj" fmla="val 25285"/>
            </a:avLst>
          </a:prstGeom>
          <a:solidFill>
            <a:srgbClr val="FFFFFF">
              <a:alpha val="6000"/>
            </a:srgbClr>
          </a:solidFill>
          <a:ln/>
        </p:spPr>
        <p:txBody>
          <a:bodyPr/>
          <a:lstStyle/>
          <a:p>
            <a:endParaRPr lang="es-MX"/>
          </a:p>
        </p:txBody>
      </p:sp>
      <p:sp>
        <p:nvSpPr>
          <p:cNvPr id="14" name="Text 11"/>
          <p:cNvSpPr/>
          <p:nvPr/>
        </p:nvSpPr>
        <p:spPr>
          <a:xfrm>
            <a:off x="6121400" y="3169741"/>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6D5CB"/>
                </a:solidFill>
                <a:latin typeface="Jost" pitchFamily="34" charset="0"/>
                <a:ea typeface="Jost" pitchFamily="34" charset="-122"/>
                <a:cs typeface="Jost" pitchFamily="34" charset="-120"/>
              </a:rPr>
              <a:t>0:55</a:t>
            </a:r>
            <a:endParaRPr lang="en-US" sz="1400" dirty="0"/>
          </a:p>
        </p:txBody>
      </p:sp>
      <p:sp>
        <p:nvSpPr>
          <p:cNvPr id="15" name="Text 12"/>
          <p:cNvSpPr/>
          <p:nvPr/>
        </p:nvSpPr>
        <p:spPr>
          <a:xfrm>
            <a:off x="6972300" y="3169741"/>
            <a:ext cx="140374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EF6F4"/>
                </a:solidFill>
                <a:latin typeface="Jost" pitchFamily="34" charset="0"/>
                <a:ea typeface="Jost" pitchFamily="34" charset="-122"/>
                <a:cs typeface="Jost" pitchFamily="34" charset="-120"/>
              </a:rPr>
              <a:t>Venta y compra</a:t>
            </a:r>
            <a:endParaRPr lang="en-US" sz="1400" dirty="0"/>
          </a:p>
        </p:txBody>
      </p:sp>
      <p:sp>
        <p:nvSpPr>
          <p:cNvPr id="16" name="Shape 13"/>
          <p:cNvSpPr/>
          <p:nvPr/>
        </p:nvSpPr>
        <p:spPr>
          <a:xfrm>
            <a:off x="6055797" y="3616041"/>
            <a:ext cx="5435600" cy="452041"/>
          </a:xfrm>
          <a:prstGeom prst="roundRect">
            <a:avLst>
              <a:gd name="adj" fmla="val 25285"/>
            </a:avLst>
          </a:prstGeom>
          <a:solidFill>
            <a:srgbClr val="FFFFFF">
              <a:alpha val="6000"/>
            </a:srgbClr>
          </a:solidFill>
          <a:ln/>
        </p:spPr>
        <p:txBody>
          <a:bodyPr/>
          <a:lstStyle/>
          <a:p>
            <a:endParaRPr lang="es-MX"/>
          </a:p>
        </p:txBody>
      </p:sp>
      <p:sp>
        <p:nvSpPr>
          <p:cNvPr id="17" name="Text 14"/>
          <p:cNvSpPr/>
          <p:nvPr/>
        </p:nvSpPr>
        <p:spPr>
          <a:xfrm>
            <a:off x="6121400" y="3710682"/>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6D5CB"/>
                </a:solidFill>
                <a:latin typeface="Jost" pitchFamily="34" charset="0"/>
                <a:ea typeface="Jost" pitchFamily="34" charset="-122"/>
                <a:cs typeface="Jost" pitchFamily="34" charset="-120"/>
              </a:rPr>
              <a:t>1:40</a:t>
            </a:r>
            <a:endParaRPr lang="en-US" sz="1400" dirty="0"/>
          </a:p>
        </p:txBody>
      </p:sp>
      <p:sp>
        <p:nvSpPr>
          <p:cNvPr id="18" name="Text 15"/>
          <p:cNvSpPr/>
          <p:nvPr/>
        </p:nvSpPr>
        <p:spPr>
          <a:xfrm>
            <a:off x="6972300" y="3710682"/>
            <a:ext cx="180129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EF6F4"/>
                </a:solidFill>
                <a:latin typeface="Jost" pitchFamily="34" charset="0"/>
                <a:ea typeface="Jost" pitchFamily="34" charset="-122"/>
                <a:cs typeface="Jost" pitchFamily="34" charset="-120"/>
              </a:rPr>
              <a:t>Alertas y predicción</a:t>
            </a:r>
            <a:endParaRPr lang="en-US" sz="1400" dirty="0"/>
          </a:p>
        </p:txBody>
      </p:sp>
      <p:sp>
        <p:nvSpPr>
          <p:cNvPr id="19" name="Shape 16"/>
          <p:cNvSpPr/>
          <p:nvPr/>
        </p:nvSpPr>
        <p:spPr>
          <a:xfrm>
            <a:off x="6055797" y="4150023"/>
            <a:ext cx="5435600" cy="452041"/>
          </a:xfrm>
          <a:prstGeom prst="roundRect">
            <a:avLst>
              <a:gd name="adj" fmla="val 25285"/>
            </a:avLst>
          </a:prstGeom>
          <a:solidFill>
            <a:srgbClr val="FFFFFF">
              <a:alpha val="6000"/>
            </a:srgbClr>
          </a:solidFill>
          <a:ln/>
        </p:spPr>
        <p:txBody>
          <a:bodyPr/>
          <a:lstStyle/>
          <a:p>
            <a:endParaRPr lang="es-MX"/>
          </a:p>
        </p:txBody>
      </p:sp>
      <p:sp>
        <p:nvSpPr>
          <p:cNvPr id="20" name="Text 17"/>
          <p:cNvSpPr/>
          <p:nvPr/>
        </p:nvSpPr>
        <p:spPr>
          <a:xfrm>
            <a:off x="6121400" y="4251623"/>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6D5CB"/>
                </a:solidFill>
                <a:latin typeface="Jost" pitchFamily="34" charset="0"/>
                <a:ea typeface="Jost" pitchFamily="34" charset="-122"/>
                <a:cs typeface="Jost" pitchFamily="34" charset="-120"/>
              </a:rPr>
              <a:t>2:20</a:t>
            </a:r>
            <a:endParaRPr lang="en-US" sz="1400" dirty="0"/>
          </a:p>
        </p:txBody>
      </p:sp>
      <p:sp>
        <p:nvSpPr>
          <p:cNvPr id="21" name="Text 18"/>
          <p:cNvSpPr/>
          <p:nvPr/>
        </p:nvSpPr>
        <p:spPr>
          <a:xfrm>
            <a:off x="6972300" y="4251623"/>
            <a:ext cx="214836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EF6F4"/>
                </a:solidFill>
                <a:latin typeface="Jost" pitchFamily="34" charset="0"/>
                <a:ea typeface="Jost" pitchFamily="34" charset="-122"/>
                <a:cs typeface="Jost" pitchFamily="34" charset="-120"/>
              </a:rPr>
              <a:t>Catálogo y proveedores</a:t>
            </a:r>
            <a:endParaRPr lang="en-US" sz="1400" dirty="0"/>
          </a:p>
        </p:txBody>
      </p:sp>
      <p:sp>
        <p:nvSpPr>
          <p:cNvPr id="22" name="Shape 19"/>
          <p:cNvSpPr/>
          <p:nvPr/>
        </p:nvSpPr>
        <p:spPr>
          <a:xfrm>
            <a:off x="6047632" y="4690963"/>
            <a:ext cx="5435600" cy="452041"/>
          </a:xfrm>
          <a:prstGeom prst="roundRect">
            <a:avLst>
              <a:gd name="adj" fmla="val 25285"/>
            </a:avLst>
          </a:prstGeom>
          <a:solidFill>
            <a:srgbClr val="FFFFFF">
              <a:alpha val="6000"/>
            </a:srgbClr>
          </a:solidFill>
          <a:ln/>
        </p:spPr>
        <p:txBody>
          <a:bodyPr/>
          <a:lstStyle/>
          <a:p>
            <a:endParaRPr lang="es-MX"/>
          </a:p>
        </p:txBody>
      </p:sp>
      <p:sp>
        <p:nvSpPr>
          <p:cNvPr id="23" name="Text 20"/>
          <p:cNvSpPr/>
          <p:nvPr/>
        </p:nvSpPr>
        <p:spPr>
          <a:xfrm>
            <a:off x="6121400" y="4792563"/>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6D5CB"/>
                </a:solidFill>
                <a:latin typeface="Jost" pitchFamily="34" charset="0"/>
                <a:ea typeface="Jost" pitchFamily="34" charset="-122"/>
                <a:cs typeface="Jost" pitchFamily="34" charset="-120"/>
              </a:rPr>
              <a:t>2:40</a:t>
            </a:r>
            <a:endParaRPr lang="en-US" sz="1400" dirty="0"/>
          </a:p>
        </p:txBody>
      </p:sp>
      <p:sp>
        <p:nvSpPr>
          <p:cNvPr id="24" name="Text 21"/>
          <p:cNvSpPr/>
          <p:nvPr/>
        </p:nvSpPr>
        <p:spPr>
          <a:xfrm>
            <a:off x="6972299" y="4792563"/>
            <a:ext cx="3967843" cy="274241"/>
          </a:xfrm>
          <a:prstGeom prst="rect">
            <a:avLst/>
          </a:prstGeom>
          <a:noFill/>
          <a:ln/>
        </p:spPr>
        <p:txBody>
          <a:bodyPr wrap="square" lIns="0" tIns="0" rIns="0" bIns="0" rtlCol="0" anchor="t">
            <a:noAutofit/>
          </a:bodyPr>
          <a:lstStyle/>
          <a:p>
            <a:pPr marL="0" indent="0" algn="l">
              <a:lnSpc>
                <a:spcPts val="1960"/>
              </a:lnSpc>
              <a:buNone/>
            </a:pPr>
            <a:r>
              <a:rPr lang="es-MX" sz="1400" b="0" i="0" dirty="0">
                <a:solidFill>
                  <a:srgbClr val="FFFFFF"/>
                </a:solidFill>
                <a:effectLst/>
                <a:latin typeface="+mj-lt"/>
              </a:rPr>
              <a:t>Carga semanal y precisión del modelo en operación</a:t>
            </a:r>
            <a:endParaRPr lang="en-US" sz="1400" dirty="0">
              <a:latin typeface="+mj-lt"/>
            </a:endParaRPr>
          </a:p>
        </p:txBody>
      </p:sp>
      <p:sp>
        <p:nvSpPr>
          <p:cNvPr id="25"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NexuStock</a:t>
            </a:r>
            <a:endParaRPr lang="en-US" sz="1200" dirty="0"/>
          </a:p>
        </p:txBody>
      </p:sp>
      <p:sp>
        <p:nvSpPr>
          <p:cNvPr id="26" name="Text 2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9 / 10</a:t>
            </a:r>
            <a:endParaRPr lang="en-US" sz="1200" dirty="0"/>
          </a:p>
        </p:txBody>
      </p:sp>
      <p:sp>
        <p:nvSpPr>
          <p:cNvPr id="27" name="Shape 24"/>
          <p:cNvSpPr/>
          <p:nvPr/>
        </p:nvSpPr>
        <p:spPr>
          <a:xfrm>
            <a:off x="10871200" y="355600"/>
            <a:ext cx="508000" cy="508000"/>
          </a:xfrm>
          <a:prstGeom prst="roundRect">
            <a:avLst>
              <a:gd name="adj" fmla="val 50000"/>
            </a:avLst>
          </a:prstGeom>
          <a:solidFill>
            <a:srgbClr val="F4F1E8"/>
          </a:solidFill>
          <a:ln/>
        </p:spPr>
        <p:txBody>
          <a:bodyPr/>
          <a:lstStyle/>
          <a:p>
            <a:endParaRPr lang="es-MX"/>
          </a:p>
        </p:txBody>
      </p:sp>
      <p:pic>
        <p:nvPicPr>
          <p:cNvPr id="28" name="Image 1" descr="Logo NexuStock"/>
          <p:cNvPicPr>
            <a:picLocks noChangeAspect="1"/>
          </p:cNvPicPr>
          <p:nvPr/>
        </p:nvPicPr>
        <p:blipFill>
          <a:blip r:embed="rId4"/>
          <a:srcRect/>
          <a:stretch/>
        </p:blipFill>
        <p:spPr>
          <a:xfrm>
            <a:off x="10871200" y="355600"/>
            <a:ext cx="508000" cy="508000"/>
          </a:xfrm>
          <a:prstGeom prst="ellipse">
            <a:avLst/>
          </a:prstGeom>
        </p:spPr>
      </p:pic>
    </p:spTree>
    <p:extLst>
      <p:ext uri="{BB962C8B-B14F-4D97-AF65-F5344CB8AC3E}">
        <p14:creationId xmlns:p14="http://schemas.microsoft.com/office/powerpoint/2010/main" val="3566691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22"/>
          <p:cNvSpPr/>
          <p:nvPr/>
        </p:nvSpPr>
        <p:spPr>
          <a:xfrm>
            <a:off x="198254" y="6523264"/>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NexuStock</a:t>
            </a:r>
            <a:endParaRPr lang="en-US" sz="1200" dirty="0"/>
          </a:p>
        </p:txBody>
      </p:sp>
      <p:sp>
        <p:nvSpPr>
          <p:cNvPr id="26" name="Text 23"/>
          <p:cNvSpPr/>
          <p:nvPr/>
        </p:nvSpPr>
        <p:spPr>
          <a:xfrm>
            <a:off x="11175503" y="649605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9 / 10</a:t>
            </a:r>
            <a:endParaRPr lang="en-US" sz="1200" dirty="0"/>
          </a:p>
        </p:txBody>
      </p:sp>
      <p:sp>
        <p:nvSpPr>
          <p:cNvPr id="27" name="Shape 24"/>
          <p:cNvSpPr/>
          <p:nvPr/>
        </p:nvSpPr>
        <p:spPr>
          <a:xfrm>
            <a:off x="11480303" y="101600"/>
            <a:ext cx="508000" cy="508000"/>
          </a:xfrm>
          <a:prstGeom prst="roundRect">
            <a:avLst>
              <a:gd name="adj" fmla="val 50000"/>
            </a:avLst>
          </a:prstGeom>
          <a:solidFill>
            <a:srgbClr val="F4F1E8"/>
          </a:solidFill>
          <a:ln/>
        </p:spPr>
        <p:txBody>
          <a:bodyPr/>
          <a:lstStyle/>
          <a:p>
            <a:endParaRPr lang="es-MX"/>
          </a:p>
        </p:txBody>
      </p:sp>
      <p:pic>
        <p:nvPicPr>
          <p:cNvPr id="28" name="Image 1" descr="Logo NexuStock"/>
          <p:cNvPicPr>
            <a:picLocks noChangeAspect="1"/>
          </p:cNvPicPr>
          <p:nvPr/>
        </p:nvPicPr>
        <p:blipFill>
          <a:blip r:embed="rId5"/>
          <a:srcRect/>
          <a:stretch/>
        </p:blipFill>
        <p:spPr>
          <a:xfrm>
            <a:off x="11485746" y="101600"/>
            <a:ext cx="508000" cy="508000"/>
          </a:xfrm>
          <a:prstGeom prst="ellipse">
            <a:avLst/>
          </a:prstGeom>
        </p:spPr>
      </p:pic>
      <p:pic>
        <p:nvPicPr>
          <p:cNvPr id="30" name="Video demostrativo">
            <a:hlinkClick r:id="" action="ppaction://media"/>
            <a:extLst>
              <a:ext uri="{FF2B5EF4-FFF2-40B4-BE49-F238E27FC236}">
                <a16:creationId xmlns:a16="http://schemas.microsoft.com/office/drawing/2014/main" id="{1C1D4C00-9527-EBAA-2DE7-A7DF6BF13BE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387351" y="254732"/>
            <a:ext cx="11095674" cy="6241318"/>
          </a:xfrm>
          <a:prstGeom prst="rect">
            <a:avLst/>
          </a:prstGeom>
        </p:spPr>
      </p:pic>
    </p:spTree>
    <p:extLst>
      <p:ext uri="{BB962C8B-B14F-4D97-AF65-F5344CB8AC3E}">
        <p14:creationId xmlns:p14="http://schemas.microsoft.com/office/powerpoint/2010/main" val="366013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9643"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0"/>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0"/>
                                        </p:tgtEl>
                                      </p:cBhvr>
                                    </p:cmd>
                                  </p:childTnLst>
                                </p:cTn>
                              </p:par>
                            </p:childTnLst>
                          </p:cTn>
                        </p:par>
                      </p:childTnLst>
                    </p:cTn>
                  </p:par>
                </p:childTnLst>
              </p:cTn>
              <p:nextCondLst>
                <p:cond evt="onClick" delay="0">
                  <p:tgtEl>
                    <p:spTgt spid="30"/>
                  </p:tgtEl>
                </p:cond>
              </p:nextCondLst>
            </p:seq>
            <p:video>
              <p:cMediaNode vol="80000">
                <p:cTn id="12" fill="hold" display="0">
                  <p:stCondLst>
                    <p:cond delay="indefinite"/>
                  </p:stCondLst>
                </p:cTn>
                <p:tgtEl>
                  <p:spTgt spid="30"/>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334250" y="4152929"/>
            <a:ext cx="3712029" cy="1268441"/>
          </a:xfrm>
          <a:prstGeom prst="roundRect">
            <a:avLst>
              <a:gd name="adj" fmla="val 17610"/>
            </a:avLst>
          </a:prstGeom>
          <a:solidFill>
            <a:srgbClr val="F4F1E8"/>
          </a:solidFill>
          <a:ln/>
        </p:spPr>
        <p:txBody>
          <a:bodyPr/>
          <a:lstStyle/>
          <a:p>
            <a:endParaRPr lang="es-MX"/>
          </a:p>
        </p:txBody>
      </p:sp>
      <p:pic>
        <p:nvPicPr>
          <p:cNvPr id="3" name="Image 0" descr="Logo de NexuStock: las letras NS dentro de un círculo y el nombre nexustock"/>
          <p:cNvPicPr>
            <a:picLocks noChangeAspect="1"/>
          </p:cNvPicPr>
          <p:nvPr/>
        </p:nvPicPr>
        <p:blipFill>
          <a:blip r:embed="rId3"/>
          <a:srcRect t="-105" b="-105"/>
          <a:stretch/>
        </p:blipFill>
        <p:spPr>
          <a:xfrm>
            <a:off x="7240588" y="4119873"/>
            <a:ext cx="4951412" cy="1405847"/>
          </a:xfrm>
          <a:prstGeom prst="roundRect">
            <a:avLst>
              <a:gd name="adj" fmla="val 17610"/>
            </a:avLst>
          </a:prstGeom>
        </p:spPr>
      </p:pic>
      <p:sp>
        <p:nvSpPr>
          <p:cNvPr id="4" name="Text 1"/>
          <p:cNvSpPr/>
          <p:nvPr/>
        </p:nvSpPr>
        <p:spPr>
          <a:xfrm>
            <a:off x="812800" y="81280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dirty="0">
                <a:solidFill>
                  <a:srgbClr val="F4FAF8"/>
                </a:solidFill>
                <a:latin typeface="Jost" pitchFamily="34" charset="0"/>
                <a:ea typeface="Jost" pitchFamily="34" charset="-122"/>
                <a:cs typeface="Jost" pitchFamily="34" charset="-120"/>
              </a:rPr>
              <a:t>Próximos pasos</a:t>
            </a:r>
            <a:endParaRPr lang="en-US" sz="4000" dirty="0"/>
          </a:p>
        </p:txBody>
      </p:sp>
      <p:pic>
        <p:nvPicPr>
          <p:cNvPr id="5" name="Image 1" descr="ellipse"/>
          <p:cNvPicPr>
            <a:picLocks noChangeAspect="1"/>
          </p:cNvPicPr>
          <p:nvPr/>
        </p:nvPicPr>
        <p:blipFill>
          <a:blip r:embed="rId4"/>
          <a:srcRect/>
          <a:stretch/>
        </p:blipFill>
        <p:spPr>
          <a:xfrm>
            <a:off x="812800" y="1708745"/>
            <a:ext cx="114300" cy="114300"/>
          </a:xfrm>
          <a:prstGeom prst="rect">
            <a:avLst/>
          </a:prstGeom>
        </p:spPr>
      </p:pic>
      <p:sp>
        <p:nvSpPr>
          <p:cNvPr id="6" name="Text 2"/>
          <p:cNvSpPr/>
          <p:nvPr/>
        </p:nvSpPr>
        <p:spPr>
          <a:xfrm>
            <a:off x="1079500" y="1625600"/>
            <a:ext cx="9156700"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EEF6F4"/>
                </a:solidFill>
                <a:latin typeface="Jost" pitchFamily="34" charset="0"/>
                <a:ea typeface="Jost" pitchFamily="34" charset="-122"/>
                <a:cs typeface="Jost" pitchFamily="34" charset="-120"/>
              </a:rPr>
              <a:t>Entrenar y evaluar el modelo con MAE (entrenamiento 2022–2023, prueba 2024).</a:t>
            </a:r>
            <a:endParaRPr lang="en-US" sz="1700" dirty="0"/>
          </a:p>
        </p:txBody>
      </p:sp>
      <p:pic>
        <p:nvPicPr>
          <p:cNvPr id="7" name="Image 2" descr="ellipse"/>
          <p:cNvPicPr>
            <a:picLocks noChangeAspect="1"/>
          </p:cNvPicPr>
          <p:nvPr/>
        </p:nvPicPr>
        <p:blipFill>
          <a:blip r:embed="rId4"/>
          <a:srcRect/>
          <a:stretch/>
        </p:blipFill>
        <p:spPr>
          <a:xfrm>
            <a:off x="812800" y="2103636"/>
            <a:ext cx="114300" cy="114300"/>
          </a:xfrm>
          <a:prstGeom prst="rect">
            <a:avLst/>
          </a:prstGeom>
        </p:spPr>
      </p:pic>
      <p:sp>
        <p:nvSpPr>
          <p:cNvPr id="8" name="Text 3"/>
          <p:cNvSpPr/>
          <p:nvPr/>
        </p:nvSpPr>
        <p:spPr>
          <a:xfrm>
            <a:off x="1079500" y="2020491"/>
            <a:ext cx="9156700"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EEF6F4"/>
                </a:solidFill>
                <a:latin typeface="Jost" pitchFamily="34" charset="0"/>
                <a:ea typeface="Jost" pitchFamily="34" charset="-122"/>
                <a:cs typeface="Jost" pitchFamily="34" charset="-120"/>
              </a:rPr>
              <a:t>Desplegar en la nube y evaluar la factibilidad con VAN, TIR y ROI.</a:t>
            </a:r>
            <a:endParaRPr lang="en-US" sz="1700" dirty="0"/>
          </a:p>
        </p:txBody>
      </p:sp>
      <p:pic>
        <p:nvPicPr>
          <p:cNvPr id="9" name="Image 3" descr="ellipse"/>
          <p:cNvPicPr>
            <a:picLocks noChangeAspect="1"/>
          </p:cNvPicPr>
          <p:nvPr/>
        </p:nvPicPr>
        <p:blipFill>
          <a:blip r:embed="rId4"/>
          <a:srcRect/>
          <a:stretch/>
        </p:blipFill>
        <p:spPr>
          <a:xfrm>
            <a:off x="812800" y="2498527"/>
            <a:ext cx="114300" cy="114300"/>
          </a:xfrm>
          <a:prstGeom prst="rect">
            <a:avLst/>
          </a:prstGeom>
        </p:spPr>
      </p:pic>
      <p:sp>
        <p:nvSpPr>
          <p:cNvPr id="10" name="Text 4"/>
          <p:cNvSpPr/>
          <p:nvPr/>
        </p:nvSpPr>
        <p:spPr>
          <a:xfrm>
            <a:off x="1079500" y="2415381"/>
            <a:ext cx="9156700"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EEF6F4"/>
                </a:solidFill>
                <a:latin typeface="Jost" pitchFamily="34" charset="0"/>
                <a:ea typeface="Jost" pitchFamily="34" charset="-122"/>
                <a:cs typeface="Jost" pitchFamily="34" charset="-120"/>
              </a:rPr>
              <a:t>Pruebas de usabilidad y manuales técnico y de usuario.</a:t>
            </a:r>
            <a:endParaRPr lang="en-US" sz="1700" dirty="0"/>
          </a:p>
        </p:txBody>
      </p:sp>
      <p:sp>
        <p:nvSpPr>
          <p:cNvPr id="11" name="Text 5"/>
          <p:cNvSpPr>
            <a:spLocks noGrp="1"/>
          </p:cNvSpPr>
          <p:nvPr>
            <p:ph type="title"/>
          </p:nvPr>
        </p:nvSpPr>
        <p:spPr>
          <a:xfrm>
            <a:off x="812800" y="4232275"/>
            <a:ext cx="10883392" cy="1025525"/>
          </a:xfrm>
          <a:prstGeom prst="rect">
            <a:avLst/>
          </a:prstGeom>
          <a:noFill/>
          <a:ln/>
        </p:spPr>
        <p:txBody>
          <a:bodyPr wrap="square" lIns="0" tIns="0" rIns="0" bIns="0" rtlCol="0" anchor="t">
            <a:normAutofit/>
          </a:bodyPr>
          <a:lstStyle/>
          <a:p>
            <a:pPr marL="0" indent="0" algn="l">
              <a:lnSpc>
                <a:spcPts val="7875"/>
              </a:lnSpc>
              <a:buNone/>
            </a:pPr>
            <a:r>
              <a:rPr lang="en-US" sz="7500" b="0" i="0" dirty="0">
                <a:solidFill>
                  <a:srgbClr val="F4FAF8"/>
                </a:solidFill>
                <a:latin typeface="Jost" pitchFamily="34" charset="0"/>
                <a:ea typeface="Jost" pitchFamily="34" charset="-122"/>
                <a:cs typeface="Jost" pitchFamily="34" charset="-120"/>
              </a:rPr>
              <a:t>Gracias</a:t>
            </a:r>
            <a:endParaRPr lang="en-US" sz="7500" dirty="0"/>
          </a:p>
        </p:txBody>
      </p:sp>
      <p:sp>
        <p:nvSpPr>
          <p:cNvPr id="12" name="Text 6"/>
          <p:cNvSpPr/>
          <p:nvPr/>
        </p:nvSpPr>
        <p:spPr>
          <a:xfrm>
            <a:off x="812800" y="548640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86D5CB"/>
                </a:solidFill>
                <a:latin typeface="Jost" pitchFamily="34" charset="0"/>
                <a:ea typeface="Jost" pitchFamily="34" charset="-122"/>
                <a:cs typeface="Jost" pitchFamily="34" charset="-120"/>
              </a:rPr>
              <a:t>¿Preguntas?</a:t>
            </a:r>
            <a:endParaRPr lang="en-US" sz="2000" dirty="0"/>
          </a:p>
        </p:txBody>
      </p:sp>
      <p:sp>
        <p:nvSpPr>
          <p:cNvPr id="13"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5B1"/>
                </a:solidFill>
                <a:latin typeface="Jost" pitchFamily="34" charset="0"/>
                <a:ea typeface="Jost" pitchFamily="34" charset="-122"/>
                <a:cs typeface="Jost" pitchFamily="34" charset="-120"/>
              </a:rPr>
              <a:t>Ignacio Mella · Manuel Bustamante · NexuStock</a:t>
            </a:r>
            <a:endParaRPr lang="en-US" sz="1200" dirty="0"/>
          </a:p>
        </p:txBody>
      </p:sp>
      <p:sp>
        <p:nvSpPr>
          <p:cNvPr id="14" name="Text 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B5B1"/>
                </a:solidFill>
                <a:latin typeface="Jost" pitchFamily="34" charset="0"/>
                <a:ea typeface="Jost" pitchFamily="34" charset="-122"/>
                <a:cs typeface="Jost" pitchFamily="34" charset="-120"/>
              </a:rPr>
              <a:t>10 / 10</a:t>
            </a:r>
            <a:endParaRPr lang="en-US" sz="1200" dirty="0"/>
          </a:p>
        </p:txBody>
      </p:sp>
    </p:spTree>
  </p:cSld>
  <p:clrMapOvr>
    <a:masterClrMapping/>
  </p:clrMapOvr>
</p:sld>
</file>

<file path=ppt/theme/theme1.xml><?xml version="1.0" encoding="utf-8"?>
<a:theme xmlns:a="http://schemas.openxmlformats.org/drawingml/2006/main" name="NexuStock - Presentación">
  <a:themeElements>
    <a:clrScheme name="NexuStock - Presentación">
      <a:dk1>
        <a:srgbClr val="2F716C"/>
      </a:dk1>
      <a:lt1>
        <a:srgbClr val="F4FAF8"/>
      </a:lt1>
      <a:dk2>
        <a:srgbClr val="437F7A"/>
      </a:dk2>
      <a:lt2>
        <a:srgbClr val="C3D8D5"/>
      </a:lt2>
      <a:accent1>
        <a:srgbClr val="86D5CB"/>
      </a:accent1>
      <a:accent2>
        <a:srgbClr val="E9C75A"/>
      </a:accent2>
      <a:accent3>
        <a:srgbClr val="1E5656"/>
      </a:accent3>
      <a:accent4>
        <a:srgbClr val="E8685C"/>
      </a:accent4>
      <a:accent5>
        <a:srgbClr val="6FCF97"/>
      </a:accent5>
      <a:accent6>
        <a:srgbClr val="BCD6D2"/>
      </a:accent6>
      <a:hlink>
        <a:srgbClr val="0563C1"/>
      </a:hlink>
      <a:folHlink>
        <a:srgbClr val="954F72"/>
      </a:folHlink>
    </a:clrScheme>
    <a:fontScheme name="NexuStock - Presentación">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o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435</TotalTime>
  <Words>2767</Words>
  <Application>Microsoft Office PowerPoint</Application>
  <PresentationFormat>Panorámica</PresentationFormat>
  <Paragraphs>171</Paragraphs>
  <Slides>11</Slides>
  <Notes>11</Notes>
  <HiddenSlides>0</HiddenSlides>
  <MMClips>1</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11</vt:i4>
      </vt:variant>
    </vt:vector>
  </HeadingPairs>
  <TitlesOfParts>
    <vt:vector size="14" baseType="lpstr">
      <vt:lpstr>Arial</vt:lpstr>
      <vt:lpstr>Jost</vt:lpstr>
      <vt:lpstr>NexuStock - Presentación</vt:lpstr>
      <vt:lpstr>NexuStock</vt:lpstr>
      <vt:lpstr>El problema</vt:lpstr>
      <vt:lpstr>La solución</vt:lpstr>
      <vt:lpstr>Arquitectura</vt:lpstr>
      <vt:lpstr>Motor predictivo</vt:lpstr>
      <vt:lpstr>Vínculo con el perfil de egreso</vt:lpstr>
      <vt:lpstr>Desarrollo profesional</vt:lpstr>
      <vt:lpstr>Plan de trabajo y avance</vt:lpstr>
      <vt:lpstr>Demostración</vt:lpstr>
      <vt:lpstr>Presentación de PowerPoint</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NexuStock - Presentación</dc:title>
  <dc:subject/>
  <dc:creator/>
  <cp:lastModifiedBy>MANUEL ISAIAS BUSTAMANTE ALIAGA</cp:lastModifiedBy>
  <cp:revision>5</cp:revision>
  <dcterms:created xsi:type="dcterms:W3CDTF">2026-10-17T22:00:58Z</dcterms:created>
  <dcterms:modified xsi:type="dcterms:W3CDTF">2026-10-18T11:33:12Z</dcterms:modified>
</cp:coreProperties>
</file>